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8.webp" ContentType="image/webp"/>
  <Override PartName="/ppt/media/image4.svg" ContentType="image/svg+xml"/>
  <Override PartName="/ppt/media/image4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73" r:id="rId3"/>
    <p:sldId id="556" r:id="rId5"/>
    <p:sldId id="561" r:id="rId6"/>
    <p:sldId id="514" r:id="rId7"/>
    <p:sldId id="558" r:id="rId8"/>
    <p:sldId id="559" r:id="rId9"/>
    <p:sldId id="583" r:id="rId10"/>
    <p:sldId id="584" r:id="rId11"/>
    <p:sldId id="581" r:id="rId12"/>
    <p:sldId id="560" r:id="rId13"/>
    <p:sldId id="562" r:id="rId14"/>
    <p:sldId id="563" r:id="rId15"/>
    <p:sldId id="565" r:id="rId16"/>
    <p:sldId id="566" r:id="rId17"/>
    <p:sldId id="567" r:id="rId18"/>
    <p:sldId id="568" r:id="rId19"/>
    <p:sldId id="569" r:id="rId20"/>
    <p:sldId id="570" r:id="rId21"/>
    <p:sldId id="571" r:id="rId22"/>
    <p:sldId id="572" r:id="rId23"/>
    <p:sldId id="573" r:id="rId24"/>
    <p:sldId id="574" r:id="rId25"/>
    <p:sldId id="575" r:id="rId26"/>
    <p:sldId id="577" r:id="rId27"/>
    <p:sldId id="579" r:id="rId28"/>
    <p:sldId id="578" r:id="rId29"/>
    <p:sldId id="580" r:id="rId30"/>
    <p:sldId id="557" r:id="rId31"/>
  </p:sldIdLst>
  <p:sldSz cx="12192000" cy="6858000"/>
  <p:notesSz cx="6858000" cy="9144000"/>
  <p:custDataLst>
    <p:tags r:id="rId3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FAADC"/>
    <a:srgbClr val="003F87"/>
    <a:srgbClr val="2F5597"/>
    <a:srgbClr val="8DA1C4"/>
    <a:srgbClr val="1820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79" d="100"/>
          <a:sy n="79" d="100"/>
        </p:scale>
        <p:origin x="60" y="52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5" Type="http://schemas.openxmlformats.org/officeDocument/2006/relationships/tags" Target="tags/tag5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D7308E-CB75-4937-8AB5-A3598BE6625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0DA2A2-8270-4ED5-BF5C-C8E0B3242FE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0DA2A2-8270-4ED5-BF5C-C8E0B3242F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0DA2A2-8270-4ED5-BF5C-C8E0B3242F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0DA2A2-8270-4ED5-BF5C-C8E0B3242F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0DA2A2-8270-4ED5-BF5C-C8E0B3242F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LangChain</a:t>
            </a:r>
            <a:r>
              <a:rPr lang="zh-CN" altLang="en-US"/>
              <a:t>由</a:t>
            </a:r>
            <a:r>
              <a:rPr lang="en-US" altLang="zh-CN"/>
              <a:t>6</a:t>
            </a:r>
            <a:r>
              <a:rPr lang="zh-CN" altLang="en-US"/>
              <a:t>个</a:t>
            </a:r>
            <a:r>
              <a:rPr lang="en-US" altLang="zh-CN"/>
              <a:t>module</a:t>
            </a:r>
            <a:r>
              <a:rPr lang="zh-CN" altLang="en-US"/>
              <a:t>组成，分别是</a:t>
            </a:r>
            <a:r>
              <a:rPr lang="en-US" altLang="zh-CN"/>
              <a:t>Model IO</a:t>
            </a:r>
            <a:r>
              <a:rPr lang="zh-CN" altLang="en-US"/>
              <a:t>、</a:t>
            </a:r>
            <a:r>
              <a:rPr lang="en-US" altLang="zh-CN"/>
              <a:t>Retrieval</a:t>
            </a:r>
            <a:r>
              <a:rPr lang="zh-CN" altLang="en-US"/>
              <a:t>、</a:t>
            </a:r>
            <a:r>
              <a:rPr lang="en-US" altLang="zh-CN"/>
              <a:t>Chains</a:t>
            </a:r>
            <a:r>
              <a:rPr lang="zh-CN" altLang="en-US"/>
              <a:t>、</a:t>
            </a:r>
            <a:r>
              <a:rPr lang="en-US" altLang="zh-CN"/>
              <a:t>Memory</a:t>
            </a:r>
            <a:r>
              <a:rPr lang="zh-CN" altLang="en-US"/>
              <a:t>、</a:t>
            </a:r>
            <a:r>
              <a:rPr lang="en-US" altLang="zh-CN"/>
              <a:t>Agents</a:t>
            </a:r>
            <a:r>
              <a:rPr lang="zh-CN" altLang="en-US"/>
              <a:t>和</a:t>
            </a:r>
            <a:r>
              <a:rPr lang="en-US" altLang="zh-CN"/>
              <a:t>Callbacks</a:t>
            </a:r>
            <a:r>
              <a:rPr lang="zh-CN" altLang="en-US"/>
              <a:t>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- **Model I/O**</a:t>
            </a:r>
            <a:r>
              <a:rPr lang="zh-CN" altLang="en-US"/>
              <a:t>：</a:t>
            </a:r>
            <a:r>
              <a:rPr lang="en-US" altLang="zh-CN"/>
              <a:t>AI</a:t>
            </a:r>
            <a:r>
              <a:rPr lang="zh-CN" altLang="en-US"/>
              <a:t>应用的核心部分，其中包括输入、</a:t>
            </a:r>
            <a:r>
              <a:rPr lang="en-US" altLang="zh-CN"/>
              <a:t>Model</a:t>
            </a:r>
            <a:r>
              <a:rPr lang="zh-CN" altLang="en-US"/>
              <a:t>和输出。</a:t>
            </a:r>
            <a:endParaRPr lang="zh-CN" altLang="en-US"/>
          </a:p>
          <a:p>
            <a:r>
              <a:rPr lang="en-US" altLang="zh-CN"/>
              <a:t>- **Retrieval**</a:t>
            </a:r>
            <a:r>
              <a:rPr lang="zh-CN" altLang="en-US"/>
              <a:t>：</a:t>
            </a:r>
            <a:r>
              <a:rPr lang="en-US" altLang="zh-CN"/>
              <a:t>“</a:t>
            </a:r>
            <a:r>
              <a:rPr lang="zh-CN" altLang="en-US"/>
              <a:t>检索</a:t>
            </a:r>
            <a:r>
              <a:rPr lang="en-US" altLang="zh-CN"/>
              <a:t>“——</a:t>
            </a:r>
            <a:r>
              <a:rPr lang="zh-CN" altLang="en-US"/>
              <a:t>该功能与向量数据密切库相关，是在向量数据库中搜索与问题相关的文档内容。</a:t>
            </a:r>
            <a:endParaRPr lang="zh-CN" altLang="en-US"/>
          </a:p>
          <a:p>
            <a:r>
              <a:rPr lang="en-US" altLang="zh-CN"/>
              <a:t>- **Memory**</a:t>
            </a:r>
            <a:r>
              <a:rPr lang="zh-CN" altLang="en-US"/>
              <a:t>：为对话形式的模型存储历史对话记录，在长对话过程中随时将这些历史对话记录重新加载，以保证对话的准确度。</a:t>
            </a:r>
            <a:endParaRPr lang="zh-CN" altLang="en-US"/>
          </a:p>
          <a:p>
            <a:r>
              <a:rPr lang="en-US" altLang="zh-CN"/>
              <a:t>- **Chains**</a:t>
            </a:r>
            <a:r>
              <a:rPr lang="zh-CN" altLang="en-US"/>
              <a:t>：虽然通过</a:t>
            </a:r>
            <a:r>
              <a:rPr lang="en-US" altLang="zh-CN"/>
              <a:t>Model IO</a:t>
            </a:r>
            <a:r>
              <a:rPr lang="zh-CN" altLang="en-US"/>
              <a:t>、</a:t>
            </a:r>
            <a:r>
              <a:rPr lang="en-US" altLang="zh-CN"/>
              <a:t>Retrieval</a:t>
            </a:r>
            <a:r>
              <a:rPr lang="zh-CN" altLang="en-US"/>
              <a:t>和</a:t>
            </a:r>
            <a:r>
              <a:rPr lang="en-US" altLang="zh-CN"/>
              <a:t>Memory</a:t>
            </a:r>
            <a:r>
              <a:rPr lang="zh-CN" altLang="en-US"/>
              <a:t>这三大模块可以初步完成应用搭建，但是若想实现一个强大且复杂的应用，还是需要将各模块组合起来，这时就可以利用</a:t>
            </a:r>
            <a:r>
              <a:rPr lang="en-US" altLang="zh-CN"/>
              <a:t>Chains</a:t>
            </a:r>
            <a:r>
              <a:rPr lang="zh-CN" altLang="en-US"/>
              <a:t>将其连接起来，从而丰富功能。</a:t>
            </a:r>
            <a:endParaRPr lang="zh-CN" altLang="en-US"/>
          </a:p>
          <a:p>
            <a:r>
              <a:rPr lang="en-US" altLang="zh-CN"/>
              <a:t>- **Agents**</a:t>
            </a:r>
            <a:r>
              <a:rPr lang="zh-CN" altLang="en-US"/>
              <a:t>：它可以通过用户的输入，理解用户的意图，返回一个特定的动作类型和参数，从而自主调用相关的工具来满足用户的需求，将应用更加智能化。</a:t>
            </a:r>
            <a:endParaRPr lang="zh-CN" altLang="en-US"/>
          </a:p>
          <a:p>
            <a:r>
              <a:rPr lang="en-US" altLang="zh-CN"/>
              <a:t>- **Callbacks**: </a:t>
            </a:r>
            <a:r>
              <a:rPr lang="zh-CN" altLang="en-US"/>
              <a:t>回调机制可以调用链路追踪，记录日志，帮助开发者更好的调试</a:t>
            </a:r>
            <a:r>
              <a:rPr lang="en-US" altLang="zh-CN"/>
              <a:t>LLM</a:t>
            </a:r>
            <a:r>
              <a:rPr lang="zh-CN" altLang="en-US"/>
              <a:t>模型。</a:t>
            </a:r>
            <a:endParaRPr lang="zh-CN" altLang="en-US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0DA2A2-8270-4ED5-BF5C-C8E0B3242F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LangChain</a:t>
            </a:r>
            <a:r>
              <a:rPr lang="zh-CN" altLang="en-US"/>
              <a:t>由</a:t>
            </a:r>
            <a:r>
              <a:rPr lang="en-US" altLang="zh-CN"/>
              <a:t>6</a:t>
            </a:r>
            <a:r>
              <a:rPr lang="zh-CN" altLang="en-US"/>
              <a:t>个</a:t>
            </a:r>
            <a:r>
              <a:rPr lang="en-US" altLang="zh-CN"/>
              <a:t>module</a:t>
            </a:r>
            <a:r>
              <a:rPr lang="zh-CN" altLang="en-US"/>
              <a:t>组成，分别是</a:t>
            </a:r>
            <a:r>
              <a:rPr lang="en-US" altLang="zh-CN"/>
              <a:t>Model IO</a:t>
            </a:r>
            <a:r>
              <a:rPr lang="zh-CN" altLang="en-US"/>
              <a:t>、</a:t>
            </a:r>
            <a:r>
              <a:rPr lang="en-US" altLang="zh-CN"/>
              <a:t>Retrieval</a:t>
            </a:r>
            <a:r>
              <a:rPr lang="zh-CN" altLang="en-US"/>
              <a:t>、</a:t>
            </a:r>
            <a:r>
              <a:rPr lang="en-US" altLang="zh-CN"/>
              <a:t>Chains</a:t>
            </a:r>
            <a:r>
              <a:rPr lang="zh-CN" altLang="en-US"/>
              <a:t>、</a:t>
            </a:r>
            <a:r>
              <a:rPr lang="en-US" altLang="zh-CN"/>
              <a:t>Memory</a:t>
            </a:r>
            <a:r>
              <a:rPr lang="zh-CN" altLang="en-US"/>
              <a:t>、</a:t>
            </a:r>
            <a:r>
              <a:rPr lang="en-US" altLang="zh-CN"/>
              <a:t>Agents</a:t>
            </a:r>
            <a:r>
              <a:rPr lang="zh-CN" altLang="en-US"/>
              <a:t>和</a:t>
            </a:r>
            <a:r>
              <a:rPr lang="en-US" altLang="zh-CN"/>
              <a:t>Callbacks</a:t>
            </a:r>
            <a:r>
              <a:rPr lang="zh-CN" altLang="en-US"/>
              <a:t>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- **Model I/O**</a:t>
            </a:r>
            <a:r>
              <a:rPr lang="zh-CN" altLang="en-US"/>
              <a:t>：</a:t>
            </a:r>
            <a:r>
              <a:rPr lang="en-US" altLang="zh-CN"/>
              <a:t>AI</a:t>
            </a:r>
            <a:r>
              <a:rPr lang="zh-CN" altLang="en-US"/>
              <a:t>应用的核心部分，其中包括输入、</a:t>
            </a:r>
            <a:r>
              <a:rPr lang="en-US" altLang="zh-CN"/>
              <a:t>Model</a:t>
            </a:r>
            <a:r>
              <a:rPr lang="zh-CN" altLang="en-US"/>
              <a:t>和输出。</a:t>
            </a:r>
            <a:endParaRPr lang="zh-CN" altLang="en-US"/>
          </a:p>
          <a:p>
            <a:r>
              <a:rPr lang="en-US" altLang="zh-CN"/>
              <a:t>- **Retrieval**</a:t>
            </a:r>
            <a:r>
              <a:rPr lang="zh-CN" altLang="en-US"/>
              <a:t>：</a:t>
            </a:r>
            <a:r>
              <a:rPr lang="en-US" altLang="zh-CN"/>
              <a:t>“</a:t>
            </a:r>
            <a:r>
              <a:rPr lang="zh-CN" altLang="en-US"/>
              <a:t>检索</a:t>
            </a:r>
            <a:r>
              <a:rPr lang="en-US" altLang="zh-CN"/>
              <a:t>“——</a:t>
            </a:r>
            <a:r>
              <a:rPr lang="zh-CN" altLang="en-US"/>
              <a:t>该功能与向量数据密切库相关，是在向量数据库中搜索与问题相关的文档内容。</a:t>
            </a:r>
            <a:endParaRPr lang="zh-CN" altLang="en-US"/>
          </a:p>
          <a:p>
            <a:r>
              <a:rPr lang="en-US" altLang="zh-CN"/>
              <a:t>- **Memory**</a:t>
            </a:r>
            <a:r>
              <a:rPr lang="zh-CN" altLang="en-US"/>
              <a:t>：为对话形式的模型存储历史对话记录，在长对话过程中随时将这些历史对话记录重新加载，以保证对话的准确度。</a:t>
            </a:r>
            <a:endParaRPr lang="zh-CN" altLang="en-US"/>
          </a:p>
          <a:p>
            <a:r>
              <a:rPr lang="en-US" altLang="zh-CN"/>
              <a:t>- **Chains**</a:t>
            </a:r>
            <a:r>
              <a:rPr lang="zh-CN" altLang="en-US"/>
              <a:t>：虽然通过</a:t>
            </a:r>
            <a:r>
              <a:rPr lang="en-US" altLang="zh-CN"/>
              <a:t>Model IO</a:t>
            </a:r>
            <a:r>
              <a:rPr lang="zh-CN" altLang="en-US"/>
              <a:t>、</a:t>
            </a:r>
            <a:r>
              <a:rPr lang="en-US" altLang="zh-CN"/>
              <a:t>Retrieval</a:t>
            </a:r>
            <a:r>
              <a:rPr lang="zh-CN" altLang="en-US"/>
              <a:t>和</a:t>
            </a:r>
            <a:r>
              <a:rPr lang="en-US" altLang="zh-CN"/>
              <a:t>Memory</a:t>
            </a:r>
            <a:r>
              <a:rPr lang="zh-CN" altLang="en-US"/>
              <a:t>这三大模块可以初步完成应用搭建，但是若想实现一个强大且复杂的应用，还是需要将各模块组合起来，这时就可以利用</a:t>
            </a:r>
            <a:r>
              <a:rPr lang="en-US" altLang="zh-CN"/>
              <a:t>Chains</a:t>
            </a:r>
            <a:r>
              <a:rPr lang="zh-CN" altLang="en-US"/>
              <a:t>将其连接起来，从而丰富功能。</a:t>
            </a:r>
            <a:endParaRPr lang="zh-CN" altLang="en-US"/>
          </a:p>
          <a:p>
            <a:r>
              <a:rPr lang="en-US" altLang="zh-CN"/>
              <a:t>- **Agents**</a:t>
            </a:r>
            <a:r>
              <a:rPr lang="zh-CN" altLang="en-US"/>
              <a:t>：它可以通过用户的输入，理解用户的意图，返回一个特定的动作类型和参数，从而自主调用相关的工具来满足用户的需求，将应用更加智能化。</a:t>
            </a:r>
            <a:endParaRPr lang="zh-CN" altLang="en-US"/>
          </a:p>
          <a:p>
            <a:r>
              <a:rPr lang="en-US" altLang="zh-CN"/>
              <a:t>- **Callbacks**: </a:t>
            </a:r>
            <a:r>
              <a:rPr lang="zh-CN" altLang="en-US"/>
              <a:t>回调机制可以调用链路追踪，记录日志，帮助开发者更好的调试</a:t>
            </a:r>
            <a:r>
              <a:rPr lang="en-US" altLang="zh-CN"/>
              <a:t>LLM</a:t>
            </a:r>
            <a:r>
              <a:rPr lang="zh-CN" altLang="en-US"/>
              <a:t>模型。</a:t>
            </a:r>
            <a:endParaRPr lang="zh-CN" altLang="en-US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0DA2A2-8270-4ED5-BF5C-C8E0B3242F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LangChain</a:t>
            </a:r>
            <a:r>
              <a:rPr lang="zh-CN" altLang="en-US"/>
              <a:t>由</a:t>
            </a:r>
            <a:r>
              <a:rPr lang="en-US" altLang="zh-CN"/>
              <a:t>6</a:t>
            </a:r>
            <a:r>
              <a:rPr lang="zh-CN" altLang="en-US"/>
              <a:t>个</a:t>
            </a:r>
            <a:r>
              <a:rPr lang="en-US" altLang="zh-CN"/>
              <a:t>module</a:t>
            </a:r>
            <a:r>
              <a:rPr lang="zh-CN" altLang="en-US"/>
              <a:t>组成，分别是</a:t>
            </a:r>
            <a:r>
              <a:rPr lang="en-US" altLang="zh-CN"/>
              <a:t>Model IO</a:t>
            </a:r>
            <a:r>
              <a:rPr lang="zh-CN" altLang="en-US"/>
              <a:t>、</a:t>
            </a:r>
            <a:r>
              <a:rPr lang="en-US" altLang="zh-CN"/>
              <a:t>Retrieval</a:t>
            </a:r>
            <a:r>
              <a:rPr lang="zh-CN" altLang="en-US"/>
              <a:t>、</a:t>
            </a:r>
            <a:r>
              <a:rPr lang="en-US" altLang="zh-CN"/>
              <a:t>Chains</a:t>
            </a:r>
            <a:r>
              <a:rPr lang="zh-CN" altLang="en-US"/>
              <a:t>、</a:t>
            </a:r>
            <a:r>
              <a:rPr lang="en-US" altLang="zh-CN"/>
              <a:t>Memory</a:t>
            </a:r>
            <a:r>
              <a:rPr lang="zh-CN" altLang="en-US"/>
              <a:t>、</a:t>
            </a:r>
            <a:r>
              <a:rPr lang="en-US" altLang="zh-CN"/>
              <a:t>Agents</a:t>
            </a:r>
            <a:r>
              <a:rPr lang="zh-CN" altLang="en-US"/>
              <a:t>和</a:t>
            </a:r>
            <a:r>
              <a:rPr lang="en-US" altLang="zh-CN"/>
              <a:t>Callbacks</a:t>
            </a:r>
            <a:r>
              <a:rPr lang="zh-CN" altLang="en-US"/>
              <a:t>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- **Model I/O**</a:t>
            </a:r>
            <a:r>
              <a:rPr lang="zh-CN" altLang="en-US"/>
              <a:t>：</a:t>
            </a:r>
            <a:r>
              <a:rPr lang="en-US" altLang="zh-CN"/>
              <a:t>AI</a:t>
            </a:r>
            <a:r>
              <a:rPr lang="zh-CN" altLang="en-US"/>
              <a:t>应用的核心部分，其中包括输入、</a:t>
            </a:r>
            <a:r>
              <a:rPr lang="en-US" altLang="zh-CN"/>
              <a:t>Model</a:t>
            </a:r>
            <a:r>
              <a:rPr lang="zh-CN" altLang="en-US"/>
              <a:t>和输出。</a:t>
            </a:r>
            <a:endParaRPr lang="zh-CN" altLang="en-US"/>
          </a:p>
          <a:p>
            <a:r>
              <a:rPr lang="en-US" altLang="zh-CN"/>
              <a:t>- **Retrieval**</a:t>
            </a:r>
            <a:r>
              <a:rPr lang="zh-CN" altLang="en-US"/>
              <a:t>：</a:t>
            </a:r>
            <a:r>
              <a:rPr lang="en-US" altLang="zh-CN"/>
              <a:t>“</a:t>
            </a:r>
            <a:r>
              <a:rPr lang="zh-CN" altLang="en-US"/>
              <a:t>检索</a:t>
            </a:r>
            <a:r>
              <a:rPr lang="en-US" altLang="zh-CN"/>
              <a:t>“——</a:t>
            </a:r>
            <a:r>
              <a:rPr lang="zh-CN" altLang="en-US"/>
              <a:t>该功能与向量数据密切库相关，是在向量数据库中搜索与问题相关的文档内容。</a:t>
            </a:r>
            <a:endParaRPr lang="zh-CN" altLang="en-US"/>
          </a:p>
          <a:p>
            <a:r>
              <a:rPr lang="en-US" altLang="zh-CN"/>
              <a:t>- **Memory**</a:t>
            </a:r>
            <a:r>
              <a:rPr lang="zh-CN" altLang="en-US"/>
              <a:t>：为对话形式的模型存储历史对话记录，在长对话过程中随时将这些历史对话记录重新加载，以保证对话的准确度。</a:t>
            </a:r>
            <a:endParaRPr lang="zh-CN" altLang="en-US"/>
          </a:p>
          <a:p>
            <a:r>
              <a:rPr lang="en-US" altLang="zh-CN"/>
              <a:t>- **Chains**</a:t>
            </a:r>
            <a:r>
              <a:rPr lang="zh-CN" altLang="en-US"/>
              <a:t>：虽然通过</a:t>
            </a:r>
            <a:r>
              <a:rPr lang="en-US" altLang="zh-CN"/>
              <a:t>Model IO</a:t>
            </a:r>
            <a:r>
              <a:rPr lang="zh-CN" altLang="en-US"/>
              <a:t>、</a:t>
            </a:r>
            <a:r>
              <a:rPr lang="en-US" altLang="zh-CN"/>
              <a:t>Retrieval</a:t>
            </a:r>
            <a:r>
              <a:rPr lang="zh-CN" altLang="en-US"/>
              <a:t>和</a:t>
            </a:r>
            <a:r>
              <a:rPr lang="en-US" altLang="zh-CN"/>
              <a:t>Memory</a:t>
            </a:r>
            <a:r>
              <a:rPr lang="zh-CN" altLang="en-US"/>
              <a:t>这三大模块可以初步完成应用搭建，但是若想实现一个强大且复杂的应用，还是需要将各模块组合起来，这时就可以利用</a:t>
            </a:r>
            <a:r>
              <a:rPr lang="en-US" altLang="zh-CN"/>
              <a:t>Chains</a:t>
            </a:r>
            <a:r>
              <a:rPr lang="zh-CN" altLang="en-US"/>
              <a:t>将其连接起来，从而丰富功能。</a:t>
            </a:r>
            <a:endParaRPr lang="zh-CN" altLang="en-US"/>
          </a:p>
          <a:p>
            <a:r>
              <a:rPr lang="en-US" altLang="zh-CN"/>
              <a:t>- **Agents**</a:t>
            </a:r>
            <a:r>
              <a:rPr lang="zh-CN" altLang="en-US"/>
              <a:t>：它可以通过用户的输入，理解用户的意图，返回一个特定的动作类型和参数，从而自主调用相关的工具来满足用户的需求，将应用更加智能化。</a:t>
            </a:r>
            <a:endParaRPr lang="zh-CN" altLang="en-US"/>
          </a:p>
          <a:p>
            <a:r>
              <a:rPr lang="en-US" altLang="zh-CN"/>
              <a:t>- **Callbacks**: </a:t>
            </a:r>
            <a:r>
              <a:rPr lang="zh-CN" altLang="en-US"/>
              <a:t>回调机制可以调用链路追踪，记录日志，帮助开发者更好的调试</a:t>
            </a:r>
            <a:r>
              <a:rPr lang="en-US" altLang="zh-CN"/>
              <a:t>LLM</a:t>
            </a:r>
            <a:r>
              <a:rPr lang="zh-CN" altLang="en-US"/>
              <a:t>模型。</a:t>
            </a:r>
            <a:endParaRPr lang="zh-CN" altLang="en-US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0DA2A2-8270-4ED5-BF5C-C8E0B3242F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LangChain</a:t>
            </a:r>
            <a:r>
              <a:rPr lang="zh-CN" altLang="en-US"/>
              <a:t>由</a:t>
            </a:r>
            <a:r>
              <a:rPr lang="en-US" altLang="zh-CN"/>
              <a:t>6</a:t>
            </a:r>
            <a:r>
              <a:rPr lang="zh-CN" altLang="en-US"/>
              <a:t>个</a:t>
            </a:r>
            <a:r>
              <a:rPr lang="en-US" altLang="zh-CN"/>
              <a:t>module</a:t>
            </a:r>
            <a:r>
              <a:rPr lang="zh-CN" altLang="en-US"/>
              <a:t>组成，分别是</a:t>
            </a:r>
            <a:r>
              <a:rPr lang="en-US" altLang="zh-CN"/>
              <a:t>Model IO</a:t>
            </a:r>
            <a:r>
              <a:rPr lang="zh-CN" altLang="en-US"/>
              <a:t>、</a:t>
            </a:r>
            <a:r>
              <a:rPr lang="en-US" altLang="zh-CN"/>
              <a:t>Retrieval</a:t>
            </a:r>
            <a:r>
              <a:rPr lang="zh-CN" altLang="en-US"/>
              <a:t>、</a:t>
            </a:r>
            <a:r>
              <a:rPr lang="en-US" altLang="zh-CN"/>
              <a:t>Chains</a:t>
            </a:r>
            <a:r>
              <a:rPr lang="zh-CN" altLang="en-US"/>
              <a:t>、</a:t>
            </a:r>
            <a:r>
              <a:rPr lang="en-US" altLang="zh-CN"/>
              <a:t>Memory</a:t>
            </a:r>
            <a:r>
              <a:rPr lang="zh-CN" altLang="en-US"/>
              <a:t>、</a:t>
            </a:r>
            <a:r>
              <a:rPr lang="en-US" altLang="zh-CN"/>
              <a:t>Agents</a:t>
            </a:r>
            <a:r>
              <a:rPr lang="zh-CN" altLang="en-US"/>
              <a:t>和</a:t>
            </a:r>
            <a:r>
              <a:rPr lang="en-US" altLang="zh-CN"/>
              <a:t>Callbacks</a:t>
            </a:r>
            <a:r>
              <a:rPr lang="zh-CN" altLang="en-US"/>
              <a:t>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- **Model I/O**</a:t>
            </a:r>
            <a:r>
              <a:rPr lang="zh-CN" altLang="en-US"/>
              <a:t>：</a:t>
            </a:r>
            <a:r>
              <a:rPr lang="en-US" altLang="zh-CN"/>
              <a:t>AI</a:t>
            </a:r>
            <a:r>
              <a:rPr lang="zh-CN" altLang="en-US"/>
              <a:t>应用的核心部分，其中包括输入、</a:t>
            </a:r>
            <a:r>
              <a:rPr lang="en-US" altLang="zh-CN"/>
              <a:t>Model</a:t>
            </a:r>
            <a:r>
              <a:rPr lang="zh-CN" altLang="en-US"/>
              <a:t>和输出。</a:t>
            </a:r>
            <a:endParaRPr lang="zh-CN" altLang="en-US"/>
          </a:p>
          <a:p>
            <a:r>
              <a:rPr lang="en-US" altLang="zh-CN"/>
              <a:t>- **Retrieval**</a:t>
            </a:r>
            <a:r>
              <a:rPr lang="zh-CN" altLang="en-US"/>
              <a:t>：</a:t>
            </a:r>
            <a:r>
              <a:rPr lang="en-US" altLang="zh-CN"/>
              <a:t>“</a:t>
            </a:r>
            <a:r>
              <a:rPr lang="zh-CN" altLang="en-US"/>
              <a:t>检索</a:t>
            </a:r>
            <a:r>
              <a:rPr lang="en-US" altLang="zh-CN"/>
              <a:t>“——</a:t>
            </a:r>
            <a:r>
              <a:rPr lang="zh-CN" altLang="en-US"/>
              <a:t>该功能与向量数据密切库相关，是在向量数据库中搜索与问题相关的文档内容。</a:t>
            </a:r>
            <a:endParaRPr lang="zh-CN" altLang="en-US"/>
          </a:p>
          <a:p>
            <a:r>
              <a:rPr lang="en-US" altLang="zh-CN"/>
              <a:t>- **Memory**</a:t>
            </a:r>
            <a:r>
              <a:rPr lang="zh-CN" altLang="en-US"/>
              <a:t>：为对话形式的模型存储历史对话记录，在长对话过程中随时将这些历史对话记录重新加载，以保证对话的准确度。</a:t>
            </a:r>
            <a:endParaRPr lang="zh-CN" altLang="en-US"/>
          </a:p>
          <a:p>
            <a:r>
              <a:rPr lang="en-US" altLang="zh-CN"/>
              <a:t>- **Chains**</a:t>
            </a:r>
            <a:r>
              <a:rPr lang="zh-CN" altLang="en-US"/>
              <a:t>：虽然通过</a:t>
            </a:r>
            <a:r>
              <a:rPr lang="en-US" altLang="zh-CN"/>
              <a:t>Model IO</a:t>
            </a:r>
            <a:r>
              <a:rPr lang="zh-CN" altLang="en-US"/>
              <a:t>、</a:t>
            </a:r>
            <a:r>
              <a:rPr lang="en-US" altLang="zh-CN"/>
              <a:t>Retrieval</a:t>
            </a:r>
            <a:r>
              <a:rPr lang="zh-CN" altLang="en-US"/>
              <a:t>和</a:t>
            </a:r>
            <a:r>
              <a:rPr lang="en-US" altLang="zh-CN"/>
              <a:t>Memory</a:t>
            </a:r>
            <a:r>
              <a:rPr lang="zh-CN" altLang="en-US"/>
              <a:t>这三大模块可以初步完成应用搭建，但是若想实现一个强大且复杂的应用，还是需要将各模块组合起来，这时就可以利用</a:t>
            </a:r>
            <a:r>
              <a:rPr lang="en-US" altLang="zh-CN"/>
              <a:t>Chains</a:t>
            </a:r>
            <a:r>
              <a:rPr lang="zh-CN" altLang="en-US"/>
              <a:t>将其连接起来，从而丰富功能。</a:t>
            </a:r>
            <a:endParaRPr lang="zh-CN" altLang="en-US"/>
          </a:p>
          <a:p>
            <a:r>
              <a:rPr lang="en-US" altLang="zh-CN"/>
              <a:t>- **Agents**</a:t>
            </a:r>
            <a:r>
              <a:rPr lang="zh-CN" altLang="en-US"/>
              <a:t>：它可以通过用户的输入，理解用户的意图，返回一个特定的动作类型和参数，从而自主调用相关的工具来满足用户的需求，将应用更加智能化。</a:t>
            </a:r>
            <a:endParaRPr lang="zh-CN" altLang="en-US"/>
          </a:p>
          <a:p>
            <a:r>
              <a:rPr lang="en-US" altLang="zh-CN"/>
              <a:t>- **Callbacks**: </a:t>
            </a:r>
            <a:r>
              <a:rPr lang="zh-CN" altLang="en-US"/>
              <a:t>回调机制可以调用链路追踪，记录日志，帮助开发者更好的调试</a:t>
            </a:r>
            <a:r>
              <a:rPr lang="en-US" altLang="zh-CN"/>
              <a:t>LLM</a:t>
            </a:r>
            <a:r>
              <a:rPr lang="zh-CN" altLang="en-US"/>
              <a:t>模型。</a:t>
            </a:r>
            <a:endParaRPr lang="zh-CN" altLang="en-US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0DA2A2-8270-4ED5-BF5C-C8E0B3242F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LangChain</a:t>
            </a:r>
            <a:r>
              <a:rPr lang="zh-CN" altLang="en-US"/>
              <a:t>由</a:t>
            </a:r>
            <a:r>
              <a:rPr lang="en-US" altLang="zh-CN"/>
              <a:t>6</a:t>
            </a:r>
            <a:r>
              <a:rPr lang="zh-CN" altLang="en-US"/>
              <a:t>个</a:t>
            </a:r>
            <a:r>
              <a:rPr lang="en-US" altLang="zh-CN"/>
              <a:t>module</a:t>
            </a:r>
            <a:r>
              <a:rPr lang="zh-CN" altLang="en-US"/>
              <a:t>组成，分别是</a:t>
            </a:r>
            <a:r>
              <a:rPr lang="en-US" altLang="zh-CN"/>
              <a:t>Model IO</a:t>
            </a:r>
            <a:r>
              <a:rPr lang="zh-CN" altLang="en-US"/>
              <a:t>、</a:t>
            </a:r>
            <a:r>
              <a:rPr lang="en-US" altLang="zh-CN"/>
              <a:t>Retrieval</a:t>
            </a:r>
            <a:r>
              <a:rPr lang="zh-CN" altLang="en-US"/>
              <a:t>、</a:t>
            </a:r>
            <a:r>
              <a:rPr lang="en-US" altLang="zh-CN"/>
              <a:t>Chains</a:t>
            </a:r>
            <a:r>
              <a:rPr lang="zh-CN" altLang="en-US"/>
              <a:t>、</a:t>
            </a:r>
            <a:r>
              <a:rPr lang="en-US" altLang="zh-CN"/>
              <a:t>Memory</a:t>
            </a:r>
            <a:r>
              <a:rPr lang="zh-CN" altLang="en-US"/>
              <a:t>、</a:t>
            </a:r>
            <a:r>
              <a:rPr lang="en-US" altLang="zh-CN"/>
              <a:t>Agents</a:t>
            </a:r>
            <a:r>
              <a:rPr lang="zh-CN" altLang="en-US"/>
              <a:t>和</a:t>
            </a:r>
            <a:r>
              <a:rPr lang="en-US" altLang="zh-CN"/>
              <a:t>Callbacks</a:t>
            </a:r>
            <a:r>
              <a:rPr lang="zh-CN" altLang="en-US"/>
              <a:t>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- **Model I/O**</a:t>
            </a:r>
            <a:r>
              <a:rPr lang="zh-CN" altLang="en-US"/>
              <a:t>：</a:t>
            </a:r>
            <a:r>
              <a:rPr lang="en-US" altLang="zh-CN"/>
              <a:t>AI</a:t>
            </a:r>
            <a:r>
              <a:rPr lang="zh-CN" altLang="en-US"/>
              <a:t>应用的核心部分，其中包括输入、</a:t>
            </a:r>
            <a:r>
              <a:rPr lang="en-US" altLang="zh-CN"/>
              <a:t>Model</a:t>
            </a:r>
            <a:r>
              <a:rPr lang="zh-CN" altLang="en-US"/>
              <a:t>和输出。</a:t>
            </a:r>
            <a:endParaRPr lang="zh-CN" altLang="en-US"/>
          </a:p>
          <a:p>
            <a:r>
              <a:rPr lang="en-US" altLang="zh-CN"/>
              <a:t>- **Retrieval**</a:t>
            </a:r>
            <a:r>
              <a:rPr lang="zh-CN" altLang="en-US"/>
              <a:t>：</a:t>
            </a:r>
            <a:r>
              <a:rPr lang="en-US" altLang="zh-CN"/>
              <a:t>“</a:t>
            </a:r>
            <a:r>
              <a:rPr lang="zh-CN" altLang="en-US"/>
              <a:t>检索</a:t>
            </a:r>
            <a:r>
              <a:rPr lang="en-US" altLang="zh-CN"/>
              <a:t>“——</a:t>
            </a:r>
            <a:r>
              <a:rPr lang="zh-CN" altLang="en-US"/>
              <a:t>该功能与向量数据密切库相关，是在向量数据库中搜索与问题相关的文档内容。</a:t>
            </a:r>
            <a:endParaRPr lang="zh-CN" altLang="en-US"/>
          </a:p>
          <a:p>
            <a:r>
              <a:rPr lang="en-US" altLang="zh-CN"/>
              <a:t>- **Memory**</a:t>
            </a:r>
            <a:r>
              <a:rPr lang="zh-CN" altLang="en-US"/>
              <a:t>：为对话形式的模型存储历史对话记录，在长对话过程中随时将这些历史对话记录重新加载，以保证对话的准确度。</a:t>
            </a:r>
            <a:endParaRPr lang="zh-CN" altLang="en-US"/>
          </a:p>
          <a:p>
            <a:r>
              <a:rPr lang="en-US" altLang="zh-CN"/>
              <a:t>- **Chains**</a:t>
            </a:r>
            <a:r>
              <a:rPr lang="zh-CN" altLang="en-US"/>
              <a:t>：虽然通过</a:t>
            </a:r>
            <a:r>
              <a:rPr lang="en-US" altLang="zh-CN"/>
              <a:t>Model IO</a:t>
            </a:r>
            <a:r>
              <a:rPr lang="zh-CN" altLang="en-US"/>
              <a:t>、</a:t>
            </a:r>
            <a:r>
              <a:rPr lang="en-US" altLang="zh-CN"/>
              <a:t>Retrieval</a:t>
            </a:r>
            <a:r>
              <a:rPr lang="zh-CN" altLang="en-US"/>
              <a:t>和</a:t>
            </a:r>
            <a:r>
              <a:rPr lang="en-US" altLang="zh-CN"/>
              <a:t>Memory</a:t>
            </a:r>
            <a:r>
              <a:rPr lang="zh-CN" altLang="en-US"/>
              <a:t>这三大模块可以初步完成应用搭建，但是若想实现一个强大且复杂的应用，还是需要将各模块组合起来，这时就可以利用</a:t>
            </a:r>
            <a:r>
              <a:rPr lang="en-US" altLang="zh-CN"/>
              <a:t>Chains</a:t>
            </a:r>
            <a:r>
              <a:rPr lang="zh-CN" altLang="en-US"/>
              <a:t>将其连接起来，从而丰富功能。</a:t>
            </a:r>
            <a:endParaRPr lang="zh-CN" altLang="en-US"/>
          </a:p>
          <a:p>
            <a:r>
              <a:rPr lang="en-US" altLang="zh-CN"/>
              <a:t>- **Agents**</a:t>
            </a:r>
            <a:r>
              <a:rPr lang="zh-CN" altLang="en-US"/>
              <a:t>：它可以通过用户的输入，理解用户的意图，返回一个特定的动作类型和参数，从而自主调用相关的工具来满足用户的需求，将应用更加智能化。</a:t>
            </a:r>
            <a:endParaRPr lang="zh-CN" altLang="en-US"/>
          </a:p>
          <a:p>
            <a:r>
              <a:rPr lang="en-US" altLang="zh-CN"/>
              <a:t>- **Callbacks**: </a:t>
            </a:r>
            <a:r>
              <a:rPr lang="zh-CN" altLang="en-US"/>
              <a:t>回调机制可以调用链路追踪，记录日志，帮助开发者更好的调试</a:t>
            </a:r>
            <a:r>
              <a:rPr lang="en-US" altLang="zh-CN"/>
              <a:t>LLM</a:t>
            </a:r>
            <a:r>
              <a:rPr lang="zh-CN" altLang="en-US"/>
              <a:t>模型。</a:t>
            </a:r>
            <a:endParaRPr lang="zh-CN" altLang="en-US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0DA2A2-8270-4ED5-BF5C-C8E0B3242F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LangChain</a:t>
            </a:r>
            <a:r>
              <a:rPr lang="zh-CN" altLang="en-US"/>
              <a:t>由</a:t>
            </a:r>
            <a:r>
              <a:rPr lang="en-US" altLang="zh-CN"/>
              <a:t>6</a:t>
            </a:r>
            <a:r>
              <a:rPr lang="zh-CN" altLang="en-US"/>
              <a:t>个</a:t>
            </a:r>
            <a:r>
              <a:rPr lang="en-US" altLang="zh-CN"/>
              <a:t>module</a:t>
            </a:r>
            <a:r>
              <a:rPr lang="zh-CN" altLang="en-US"/>
              <a:t>组成，分别是</a:t>
            </a:r>
            <a:r>
              <a:rPr lang="en-US" altLang="zh-CN"/>
              <a:t>Model IO</a:t>
            </a:r>
            <a:r>
              <a:rPr lang="zh-CN" altLang="en-US"/>
              <a:t>、</a:t>
            </a:r>
            <a:r>
              <a:rPr lang="en-US" altLang="zh-CN"/>
              <a:t>Retrieval</a:t>
            </a:r>
            <a:r>
              <a:rPr lang="zh-CN" altLang="en-US"/>
              <a:t>、</a:t>
            </a:r>
            <a:r>
              <a:rPr lang="en-US" altLang="zh-CN"/>
              <a:t>Chains</a:t>
            </a:r>
            <a:r>
              <a:rPr lang="zh-CN" altLang="en-US"/>
              <a:t>、</a:t>
            </a:r>
            <a:r>
              <a:rPr lang="en-US" altLang="zh-CN"/>
              <a:t>Memory</a:t>
            </a:r>
            <a:r>
              <a:rPr lang="zh-CN" altLang="en-US"/>
              <a:t>、</a:t>
            </a:r>
            <a:r>
              <a:rPr lang="en-US" altLang="zh-CN"/>
              <a:t>Agents</a:t>
            </a:r>
            <a:r>
              <a:rPr lang="zh-CN" altLang="en-US"/>
              <a:t>和</a:t>
            </a:r>
            <a:r>
              <a:rPr lang="en-US" altLang="zh-CN"/>
              <a:t>Callbacks</a:t>
            </a:r>
            <a:r>
              <a:rPr lang="zh-CN" altLang="en-US"/>
              <a:t>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- **Model I/O**</a:t>
            </a:r>
            <a:r>
              <a:rPr lang="zh-CN" altLang="en-US"/>
              <a:t>：</a:t>
            </a:r>
            <a:r>
              <a:rPr lang="en-US" altLang="zh-CN"/>
              <a:t>AI</a:t>
            </a:r>
            <a:r>
              <a:rPr lang="zh-CN" altLang="en-US"/>
              <a:t>应用的核心部分，其中包括输入、</a:t>
            </a:r>
            <a:r>
              <a:rPr lang="en-US" altLang="zh-CN"/>
              <a:t>Model</a:t>
            </a:r>
            <a:r>
              <a:rPr lang="zh-CN" altLang="en-US"/>
              <a:t>和输出。</a:t>
            </a:r>
            <a:endParaRPr lang="zh-CN" altLang="en-US"/>
          </a:p>
          <a:p>
            <a:r>
              <a:rPr lang="en-US" altLang="zh-CN"/>
              <a:t>- **Retrieval**</a:t>
            </a:r>
            <a:r>
              <a:rPr lang="zh-CN" altLang="en-US"/>
              <a:t>：</a:t>
            </a:r>
            <a:r>
              <a:rPr lang="en-US" altLang="zh-CN"/>
              <a:t>“</a:t>
            </a:r>
            <a:r>
              <a:rPr lang="zh-CN" altLang="en-US"/>
              <a:t>检索</a:t>
            </a:r>
            <a:r>
              <a:rPr lang="en-US" altLang="zh-CN"/>
              <a:t>“——</a:t>
            </a:r>
            <a:r>
              <a:rPr lang="zh-CN" altLang="en-US"/>
              <a:t>该功能与向量数据密切库相关，是在向量数据库中搜索与问题相关的文档内容。</a:t>
            </a:r>
            <a:endParaRPr lang="zh-CN" altLang="en-US"/>
          </a:p>
          <a:p>
            <a:r>
              <a:rPr lang="en-US" altLang="zh-CN"/>
              <a:t>- **Memory**</a:t>
            </a:r>
            <a:r>
              <a:rPr lang="zh-CN" altLang="en-US"/>
              <a:t>：为对话形式的模型存储历史对话记录，在长对话过程中随时将这些历史对话记录重新加载，以保证对话的准确度。</a:t>
            </a:r>
            <a:endParaRPr lang="zh-CN" altLang="en-US"/>
          </a:p>
          <a:p>
            <a:r>
              <a:rPr lang="en-US" altLang="zh-CN"/>
              <a:t>- **Chains**</a:t>
            </a:r>
            <a:r>
              <a:rPr lang="zh-CN" altLang="en-US"/>
              <a:t>：虽然通过</a:t>
            </a:r>
            <a:r>
              <a:rPr lang="en-US" altLang="zh-CN"/>
              <a:t>Model IO</a:t>
            </a:r>
            <a:r>
              <a:rPr lang="zh-CN" altLang="en-US"/>
              <a:t>、</a:t>
            </a:r>
            <a:r>
              <a:rPr lang="en-US" altLang="zh-CN"/>
              <a:t>Retrieval</a:t>
            </a:r>
            <a:r>
              <a:rPr lang="zh-CN" altLang="en-US"/>
              <a:t>和</a:t>
            </a:r>
            <a:r>
              <a:rPr lang="en-US" altLang="zh-CN"/>
              <a:t>Memory</a:t>
            </a:r>
            <a:r>
              <a:rPr lang="zh-CN" altLang="en-US"/>
              <a:t>这三大模块可以初步完成应用搭建，但是若想实现一个强大且复杂的应用，还是需要将各模块组合起来，这时就可以利用</a:t>
            </a:r>
            <a:r>
              <a:rPr lang="en-US" altLang="zh-CN"/>
              <a:t>Chains</a:t>
            </a:r>
            <a:r>
              <a:rPr lang="zh-CN" altLang="en-US"/>
              <a:t>将其连接起来，从而丰富功能。</a:t>
            </a:r>
            <a:endParaRPr lang="zh-CN" altLang="en-US"/>
          </a:p>
          <a:p>
            <a:r>
              <a:rPr lang="en-US" altLang="zh-CN"/>
              <a:t>- **Agents**</a:t>
            </a:r>
            <a:r>
              <a:rPr lang="zh-CN" altLang="en-US"/>
              <a:t>：它可以通过用户的输入，理解用户的意图，返回一个特定的动作类型和参数，从而自主调用相关的工具来满足用户的需求，将应用更加智能化。</a:t>
            </a:r>
            <a:endParaRPr lang="zh-CN" altLang="en-US"/>
          </a:p>
          <a:p>
            <a:r>
              <a:rPr lang="en-US" altLang="zh-CN"/>
              <a:t>- **Callbacks**: </a:t>
            </a:r>
            <a:r>
              <a:rPr lang="zh-CN" altLang="en-US"/>
              <a:t>回调机制可以调用链路追踪，记录日志，帮助开发者更好的调试</a:t>
            </a:r>
            <a:r>
              <a:rPr lang="en-US" altLang="zh-CN"/>
              <a:t>LLM</a:t>
            </a:r>
            <a:r>
              <a:rPr lang="zh-CN" altLang="en-US"/>
              <a:t>模型。</a:t>
            </a:r>
            <a:endParaRPr lang="zh-CN" altLang="en-US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0DA2A2-8270-4ED5-BF5C-C8E0B3242F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0DA2A2-8270-4ED5-BF5C-C8E0B3242F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LangChain</a:t>
            </a:r>
            <a:r>
              <a:rPr lang="zh-CN" altLang="en-US"/>
              <a:t>由</a:t>
            </a:r>
            <a:r>
              <a:rPr lang="en-US" altLang="zh-CN"/>
              <a:t>6</a:t>
            </a:r>
            <a:r>
              <a:rPr lang="zh-CN" altLang="en-US"/>
              <a:t>个</a:t>
            </a:r>
            <a:r>
              <a:rPr lang="en-US" altLang="zh-CN"/>
              <a:t>module</a:t>
            </a:r>
            <a:r>
              <a:rPr lang="zh-CN" altLang="en-US"/>
              <a:t>组成，分别是</a:t>
            </a:r>
            <a:r>
              <a:rPr lang="en-US" altLang="zh-CN"/>
              <a:t>Model IO</a:t>
            </a:r>
            <a:r>
              <a:rPr lang="zh-CN" altLang="en-US"/>
              <a:t>、</a:t>
            </a:r>
            <a:r>
              <a:rPr lang="en-US" altLang="zh-CN"/>
              <a:t>Retrieval</a:t>
            </a:r>
            <a:r>
              <a:rPr lang="zh-CN" altLang="en-US"/>
              <a:t>、</a:t>
            </a:r>
            <a:r>
              <a:rPr lang="en-US" altLang="zh-CN"/>
              <a:t>Chains</a:t>
            </a:r>
            <a:r>
              <a:rPr lang="zh-CN" altLang="en-US"/>
              <a:t>、</a:t>
            </a:r>
            <a:r>
              <a:rPr lang="en-US" altLang="zh-CN"/>
              <a:t>Memory</a:t>
            </a:r>
            <a:r>
              <a:rPr lang="zh-CN" altLang="en-US"/>
              <a:t>、</a:t>
            </a:r>
            <a:r>
              <a:rPr lang="en-US" altLang="zh-CN"/>
              <a:t>Agents</a:t>
            </a:r>
            <a:r>
              <a:rPr lang="zh-CN" altLang="en-US"/>
              <a:t>和</a:t>
            </a:r>
            <a:r>
              <a:rPr lang="en-US" altLang="zh-CN"/>
              <a:t>Callbacks</a:t>
            </a:r>
            <a:r>
              <a:rPr lang="zh-CN" altLang="en-US"/>
              <a:t>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- **Model I/O**</a:t>
            </a:r>
            <a:r>
              <a:rPr lang="zh-CN" altLang="en-US"/>
              <a:t>：</a:t>
            </a:r>
            <a:r>
              <a:rPr lang="en-US" altLang="zh-CN"/>
              <a:t>AI</a:t>
            </a:r>
            <a:r>
              <a:rPr lang="zh-CN" altLang="en-US"/>
              <a:t>应用的核心部分，其中包括输入、</a:t>
            </a:r>
            <a:r>
              <a:rPr lang="en-US" altLang="zh-CN"/>
              <a:t>Model</a:t>
            </a:r>
            <a:r>
              <a:rPr lang="zh-CN" altLang="en-US"/>
              <a:t>和输出。</a:t>
            </a:r>
            <a:endParaRPr lang="zh-CN" altLang="en-US"/>
          </a:p>
          <a:p>
            <a:r>
              <a:rPr lang="en-US" altLang="zh-CN"/>
              <a:t>- **Retrieval**</a:t>
            </a:r>
            <a:r>
              <a:rPr lang="zh-CN" altLang="en-US"/>
              <a:t>：</a:t>
            </a:r>
            <a:r>
              <a:rPr lang="en-US" altLang="zh-CN"/>
              <a:t>“</a:t>
            </a:r>
            <a:r>
              <a:rPr lang="zh-CN" altLang="en-US"/>
              <a:t>检索</a:t>
            </a:r>
            <a:r>
              <a:rPr lang="en-US" altLang="zh-CN"/>
              <a:t>“——</a:t>
            </a:r>
            <a:r>
              <a:rPr lang="zh-CN" altLang="en-US"/>
              <a:t>该功能与向量数据密切库相关，是在向量数据库中搜索与问题相关的文档内容。</a:t>
            </a:r>
            <a:endParaRPr lang="zh-CN" altLang="en-US"/>
          </a:p>
          <a:p>
            <a:r>
              <a:rPr lang="en-US" altLang="zh-CN"/>
              <a:t>- **Memory**</a:t>
            </a:r>
            <a:r>
              <a:rPr lang="zh-CN" altLang="en-US"/>
              <a:t>：为对话形式的模型存储历史对话记录，在长对话过程中随时将这些历史对话记录重新加载，以保证对话的准确度。</a:t>
            </a:r>
            <a:endParaRPr lang="zh-CN" altLang="en-US"/>
          </a:p>
          <a:p>
            <a:r>
              <a:rPr lang="en-US" altLang="zh-CN"/>
              <a:t>- **Chains**</a:t>
            </a:r>
            <a:r>
              <a:rPr lang="zh-CN" altLang="en-US"/>
              <a:t>：虽然通过</a:t>
            </a:r>
            <a:r>
              <a:rPr lang="en-US" altLang="zh-CN"/>
              <a:t>Model IO</a:t>
            </a:r>
            <a:r>
              <a:rPr lang="zh-CN" altLang="en-US"/>
              <a:t>、</a:t>
            </a:r>
            <a:r>
              <a:rPr lang="en-US" altLang="zh-CN"/>
              <a:t>Retrieval</a:t>
            </a:r>
            <a:r>
              <a:rPr lang="zh-CN" altLang="en-US"/>
              <a:t>和</a:t>
            </a:r>
            <a:r>
              <a:rPr lang="en-US" altLang="zh-CN"/>
              <a:t>Memory</a:t>
            </a:r>
            <a:r>
              <a:rPr lang="zh-CN" altLang="en-US"/>
              <a:t>这三大模块可以初步完成应用搭建，但是若想实现一个强大且复杂的应用，还是需要将各模块组合起来，这时就可以利用</a:t>
            </a:r>
            <a:r>
              <a:rPr lang="en-US" altLang="zh-CN"/>
              <a:t>Chains</a:t>
            </a:r>
            <a:r>
              <a:rPr lang="zh-CN" altLang="en-US"/>
              <a:t>将其连接起来，从而丰富功能。</a:t>
            </a:r>
            <a:endParaRPr lang="zh-CN" altLang="en-US"/>
          </a:p>
          <a:p>
            <a:r>
              <a:rPr lang="en-US" altLang="zh-CN"/>
              <a:t>- **Agents**</a:t>
            </a:r>
            <a:r>
              <a:rPr lang="zh-CN" altLang="en-US"/>
              <a:t>：它可以通过用户的输入，理解用户的意图，返回一个特定的动作类型和参数，从而自主调用相关的工具来满足用户的需求，将应用更加智能化。</a:t>
            </a:r>
            <a:endParaRPr lang="zh-CN" altLang="en-US"/>
          </a:p>
          <a:p>
            <a:r>
              <a:rPr lang="en-US" altLang="zh-CN"/>
              <a:t>- **Callbacks**: </a:t>
            </a:r>
            <a:r>
              <a:rPr lang="zh-CN" altLang="en-US"/>
              <a:t>回调机制可以调用链路追踪，记录日志，帮助开发者更好的调试</a:t>
            </a:r>
            <a:r>
              <a:rPr lang="en-US" altLang="zh-CN"/>
              <a:t>LLM</a:t>
            </a:r>
            <a:r>
              <a:rPr lang="zh-CN" altLang="en-US"/>
              <a:t>模型。</a:t>
            </a:r>
            <a:endParaRPr lang="zh-CN" altLang="en-US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0DA2A2-8270-4ED5-BF5C-C8E0B3242F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LangChain</a:t>
            </a:r>
            <a:r>
              <a:rPr lang="zh-CN" altLang="en-US"/>
              <a:t>由</a:t>
            </a:r>
            <a:r>
              <a:rPr lang="en-US" altLang="zh-CN"/>
              <a:t>6</a:t>
            </a:r>
            <a:r>
              <a:rPr lang="zh-CN" altLang="en-US"/>
              <a:t>个</a:t>
            </a:r>
            <a:r>
              <a:rPr lang="en-US" altLang="zh-CN"/>
              <a:t>module</a:t>
            </a:r>
            <a:r>
              <a:rPr lang="zh-CN" altLang="en-US"/>
              <a:t>组成，分别是</a:t>
            </a:r>
            <a:r>
              <a:rPr lang="en-US" altLang="zh-CN"/>
              <a:t>Model IO</a:t>
            </a:r>
            <a:r>
              <a:rPr lang="zh-CN" altLang="en-US"/>
              <a:t>、</a:t>
            </a:r>
            <a:r>
              <a:rPr lang="en-US" altLang="zh-CN"/>
              <a:t>Retrieval</a:t>
            </a:r>
            <a:r>
              <a:rPr lang="zh-CN" altLang="en-US"/>
              <a:t>、</a:t>
            </a:r>
            <a:r>
              <a:rPr lang="en-US" altLang="zh-CN"/>
              <a:t>Chains</a:t>
            </a:r>
            <a:r>
              <a:rPr lang="zh-CN" altLang="en-US"/>
              <a:t>、</a:t>
            </a:r>
            <a:r>
              <a:rPr lang="en-US" altLang="zh-CN"/>
              <a:t>Memory</a:t>
            </a:r>
            <a:r>
              <a:rPr lang="zh-CN" altLang="en-US"/>
              <a:t>、</a:t>
            </a:r>
            <a:r>
              <a:rPr lang="en-US" altLang="zh-CN"/>
              <a:t>Agents</a:t>
            </a:r>
            <a:r>
              <a:rPr lang="zh-CN" altLang="en-US"/>
              <a:t>和</a:t>
            </a:r>
            <a:r>
              <a:rPr lang="en-US" altLang="zh-CN"/>
              <a:t>Callbacks</a:t>
            </a:r>
            <a:r>
              <a:rPr lang="zh-CN" altLang="en-US"/>
              <a:t>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- **Model I/O**</a:t>
            </a:r>
            <a:r>
              <a:rPr lang="zh-CN" altLang="en-US"/>
              <a:t>：</a:t>
            </a:r>
            <a:r>
              <a:rPr lang="en-US" altLang="zh-CN"/>
              <a:t>AI</a:t>
            </a:r>
            <a:r>
              <a:rPr lang="zh-CN" altLang="en-US"/>
              <a:t>应用的核心部分，其中包括输入、</a:t>
            </a:r>
            <a:r>
              <a:rPr lang="en-US" altLang="zh-CN"/>
              <a:t>Model</a:t>
            </a:r>
            <a:r>
              <a:rPr lang="zh-CN" altLang="en-US"/>
              <a:t>和输出。</a:t>
            </a:r>
            <a:endParaRPr lang="zh-CN" altLang="en-US"/>
          </a:p>
          <a:p>
            <a:r>
              <a:rPr lang="en-US" altLang="zh-CN"/>
              <a:t>- **Retrieval**</a:t>
            </a:r>
            <a:r>
              <a:rPr lang="zh-CN" altLang="en-US"/>
              <a:t>：</a:t>
            </a:r>
            <a:r>
              <a:rPr lang="en-US" altLang="zh-CN"/>
              <a:t>“</a:t>
            </a:r>
            <a:r>
              <a:rPr lang="zh-CN" altLang="en-US"/>
              <a:t>检索</a:t>
            </a:r>
            <a:r>
              <a:rPr lang="en-US" altLang="zh-CN"/>
              <a:t>“——</a:t>
            </a:r>
            <a:r>
              <a:rPr lang="zh-CN" altLang="en-US"/>
              <a:t>该功能与向量数据密切库相关，是在向量数据库中搜索与问题相关的文档内容。</a:t>
            </a:r>
            <a:endParaRPr lang="zh-CN" altLang="en-US"/>
          </a:p>
          <a:p>
            <a:r>
              <a:rPr lang="en-US" altLang="zh-CN"/>
              <a:t>- **Memory**</a:t>
            </a:r>
            <a:r>
              <a:rPr lang="zh-CN" altLang="en-US"/>
              <a:t>：为对话形式的模型存储历史对话记录，在长对话过程中随时将这些历史对话记录重新加载，以保证对话的准确度。</a:t>
            </a:r>
            <a:endParaRPr lang="zh-CN" altLang="en-US"/>
          </a:p>
          <a:p>
            <a:r>
              <a:rPr lang="en-US" altLang="zh-CN"/>
              <a:t>- **Chains**</a:t>
            </a:r>
            <a:r>
              <a:rPr lang="zh-CN" altLang="en-US"/>
              <a:t>：虽然通过</a:t>
            </a:r>
            <a:r>
              <a:rPr lang="en-US" altLang="zh-CN"/>
              <a:t>Model IO</a:t>
            </a:r>
            <a:r>
              <a:rPr lang="zh-CN" altLang="en-US"/>
              <a:t>、</a:t>
            </a:r>
            <a:r>
              <a:rPr lang="en-US" altLang="zh-CN"/>
              <a:t>Retrieval</a:t>
            </a:r>
            <a:r>
              <a:rPr lang="zh-CN" altLang="en-US"/>
              <a:t>和</a:t>
            </a:r>
            <a:r>
              <a:rPr lang="en-US" altLang="zh-CN"/>
              <a:t>Memory</a:t>
            </a:r>
            <a:r>
              <a:rPr lang="zh-CN" altLang="en-US"/>
              <a:t>这三大模块可以初步完成应用搭建，但是若想实现一个强大且复杂的应用，还是需要将各模块组合起来，这时就可以利用</a:t>
            </a:r>
            <a:r>
              <a:rPr lang="en-US" altLang="zh-CN"/>
              <a:t>Chains</a:t>
            </a:r>
            <a:r>
              <a:rPr lang="zh-CN" altLang="en-US"/>
              <a:t>将其连接起来，从而丰富功能。</a:t>
            </a:r>
            <a:endParaRPr lang="zh-CN" altLang="en-US"/>
          </a:p>
          <a:p>
            <a:r>
              <a:rPr lang="en-US" altLang="zh-CN"/>
              <a:t>- **Agents**</a:t>
            </a:r>
            <a:r>
              <a:rPr lang="zh-CN" altLang="en-US"/>
              <a:t>：它可以通过用户的输入，理解用户的意图，返回一个特定的动作类型和参数，从而自主调用相关的工具来满足用户的需求，将应用更加智能化。</a:t>
            </a:r>
            <a:endParaRPr lang="zh-CN" altLang="en-US"/>
          </a:p>
          <a:p>
            <a:r>
              <a:rPr lang="en-US" altLang="zh-CN"/>
              <a:t>- **Callbacks**: </a:t>
            </a:r>
            <a:r>
              <a:rPr lang="zh-CN" altLang="en-US"/>
              <a:t>回调机制可以调用链路追踪，记录日志，帮助开发者更好的调试</a:t>
            </a:r>
            <a:r>
              <a:rPr lang="en-US" altLang="zh-CN"/>
              <a:t>LLM</a:t>
            </a:r>
            <a:r>
              <a:rPr lang="zh-CN" altLang="en-US"/>
              <a:t>模型。</a:t>
            </a:r>
            <a:endParaRPr lang="zh-CN" altLang="en-US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0DA2A2-8270-4ED5-BF5C-C8E0B3242F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LangChain</a:t>
            </a:r>
            <a:r>
              <a:rPr lang="zh-CN" altLang="en-US"/>
              <a:t>由</a:t>
            </a:r>
            <a:r>
              <a:rPr lang="en-US" altLang="zh-CN"/>
              <a:t>6</a:t>
            </a:r>
            <a:r>
              <a:rPr lang="zh-CN" altLang="en-US"/>
              <a:t>个</a:t>
            </a:r>
            <a:r>
              <a:rPr lang="en-US" altLang="zh-CN"/>
              <a:t>module</a:t>
            </a:r>
            <a:r>
              <a:rPr lang="zh-CN" altLang="en-US"/>
              <a:t>组成，分别是</a:t>
            </a:r>
            <a:r>
              <a:rPr lang="en-US" altLang="zh-CN"/>
              <a:t>Model IO</a:t>
            </a:r>
            <a:r>
              <a:rPr lang="zh-CN" altLang="en-US"/>
              <a:t>、</a:t>
            </a:r>
            <a:r>
              <a:rPr lang="en-US" altLang="zh-CN"/>
              <a:t>Retrieval</a:t>
            </a:r>
            <a:r>
              <a:rPr lang="zh-CN" altLang="en-US"/>
              <a:t>、</a:t>
            </a:r>
            <a:r>
              <a:rPr lang="en-US" altLang="zh-CN"/>
              <a:t>Chains</a:t>
            </a:r>
            <a:r>
              <a:rPr lang="zh-CN" altLang="en-US"/>
              <a:t>、</a:t>
            </a:r>
            <a:r>
              <a:rPr lang="en-US" altLang="zh-CN"/>
              <a:t>Memory</a:t>
            </a:r>
            <a:r>
              <a:rPr lang="zh-CN" altLang="en-US"/>
              <a:t>、</a:t>
            </a:r>
            <a:r>
              <a:rPr lang="en-US" altLang="zh-CN"/>
              <a:t>Agents</a:t>
            </a:r>
            <a:r>
              <a:rPr lang="zh-CN" altLang="en-US"/>
              <a:t>和</a:t>
            </a:r>
            <a:r>
              <a:rPr lang="en-US" altLang="zh-CN"/>
              <a:t>Callbacks</a:t>
            </a:r>
            <a:r>
              <a:rPr lang="zh-CN" altLang="en-US"/>
              <a:t>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- **Model I/O**</a:t>
            </a:r>
            <a:r>
              <a:rPr lang="zh-CN" altLang="en-US"/>
              <a:t>：</a:t>
            </a:r>
            <a:r>
              <a:rPr lang="en-US" altLang="zh-CN"/>
              <a:t>AI</a:t>
            </a:r>
            <a:r>
              <a:rPr lang="zh-CN" altLang="en-US"/>
              <a:t>应用的核心部分，其中包括输入、</a:t>
            </a:r>
            <a:r>
              <a:rPr lang="en-US" altLang="zh-CN"/>
              <a:t>Model</a:t>
            </a:r>
            <a:r>
              <a:rPr lang="zh-CN" altLang="en-US"/>
              <a:t>和输出。</a:t>
            </a:r>
            <a:endParaRPr lang="zh-CN" altLang="en-US"/>
          </a:p>
          <a:p>
            <a:r>
              <a:rPr lang="en-US" altLang="zh-CN"/>
              <a:t>- **Retrieval**</a:t>
            </a:r>
            <a:r>
              <a:rPr lang="zh-CN" altLang="en-US"/>
              <a:t>：</a:t>
            </a:r>
            <a:r>
              <a:rPr lang="en-US" altLang="zh-CN"/>
              <a:t>“</a:t>
            </a:r>
            <a:r>
              <a:rPr lang="zh-CN" altLang="en-US"/>
              <a:t>检索</a:t>
            </a:r>
            <a:r>
              <a:rPr lang="en-US" altLang="zh-CN"/>
              <a:t>“——</a:t>
            </a:r>
            <a:r>
              <a:rPr lang="zh-CN" altLang="en-US"/>
              <a:t>该功能与向量数据密切库相关，是在向量数据库中搜索与问题相关的文档内容。</a:t>
            </a:r>
            <a:endParaRPr lang="zh-CN" altLang="en-US"/>
          </a:p>
          <a:p>
            <a:r>
              <a:rPr lang="en-US" altLang="zh-CN"/>
              <a:t>- **Memory**</a:t>
            </a:r>
            <a:r>
              <a:rPr lang="zh-CN" altLang="en-US"/>
              <a:t>：为对话形式的模型存储历史对话记录，在长对话过程中随时将这些历史对话记录重新加载，以保证对话的准确度。</a:t>
            </a:r>
            <a:endParaRPr lang="zh-CN" altLang="en-US"/>
          </a:p>
          <a:p>
            <a:r>
              <a:rPr lang="en-US" altLang="zh-CN"/>
              <a:t>- **Chains**</a:t>
            </a:r>
            <a:r>
              <a:rPr lang="zh-CN" altLang="en-US"/>
              <a:t>：虽然通过</a:t>
            </a:r>
            <a:r>
              <a:rPr lang="en-US" altLang="zh-CN"/>
              <a:t>Model IO</a:t>
            </a:r>
            <a:r>
              <a:rPr lang="zh-CN" altLang="en-US"/>
              <a:t>、</a:t>
            </a:r>
            <a:r>
              <a:rPr lang="en-US" altLang="zh-CN"/>
              <a:t>Retrieval</a:t>
            </a:r>
            <a:r>
              <a:rPr lang="zh-CN" altLang="en-US"/>
              <a:t>和</a:t>
            </a:r>
            <a:r>
              <a:rPr lang="en-US" altLang="zh-CN"/>
              <a:t>Memory</a:t>
            </a:r>
            <a:r>
              <a:rPr lang="zh-CN" altLang="en-US"/>
              <a:t>这三大模块可以初步完成应用搭建，但是若想实现一个强大且复杂的应用，还是需要将各模块组合起来，这时就可以利用</a:t>
            </a:r>
            <a:r>
              <a:rPr lang="en-US" altLang="zh-CN"/>
              <a:t>Chains</a:t>
            </a:r>
            <a:r>
              <a:rPr lang="zh-CN" altLang="en-US"/>
              <a:t>将其连接起来，从而丰富功能。</a:t>
            </a:r>
            <a:endParaRPr lang="zh-CN" altLang="en-US"/>
          </a:p>
          <a:p>
            <a:r>
              <a:rPr lang="en-US" altLang="zh-CN"/>
              <a:t>- **Agents**</a:t>
            </a:r>
            <a:r>
              <a:rPr lang="zh-CN" altLang="en-US"/>
              <a:t>：它可以通过用户的输入，理解用户的意图，返回一个特定的动作类型和参数，从而自主调用相关的工具来满足用户的需求，将应用更加智能化。</a:t>
            </a:r>
            <a:endParaRPr lang="zh-CN" altLang="en-US"/>
          </a:p>
          <a:p>
            <a:r>
              <a:rPr lang="en-US" altLang="zh-CN"/>
              <a:t>- **Callbacks**: </a:t>
            </a:r>
            <a:r>
              <a:rPr lang="zh-CN" altLang="en-US"/>
              <a:t>回调机制可以调用链路追踪，记录日志，帮助开发者更好的调试</a:t>
            </a:r>
            <a:r>
              <a:rPr lang="en-US" altLang="zh-CN"/>
              <a:t>LLM</a:t>
            </a:r>
            <a:r>
              <a:rPr lang="zh-CN" altLang="en-US"/>
              <a:t>模型。</a:t>
            </a:r>
            <a:endParaRPr lang="zh-CN" altLang="en-US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0DA2A2-8270-4ED5-BF5C-C8E0B3242F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LangChain</a:t>
            </a:r>
            <a:r>
              <a:rPr lang="zh-CN" altLang="en-US"/>
              <a:t>由</a:t>
            </a:r>
            <a:r>
              <a:rPr lang="en-US" altLang="zh-CN"/>
              <a:t>6</a:t>
            </a:r>
            <a:r>
              <a:rPr lang="zh-CN" altLang="en-US"/>
              <a:t>个</a:t>
            </a:r>
            <a:r>
              <a:rPr lang="en-US" altLang="zh-CN"/>
              <a:t>module</a:t>
            </a:r>
            <a:r>
              <a:rPr lang="zh-CN" altLang="en-US"/>
              <a:t>组成，分别是</a:t>
            </a:r>
            <a:r>
              <a:rPr lang="en-US" altLang="zh-CN"/>
              <a:t>Model IO</a:t>
            </a:r>
            <a:r>
              <a:rPr lang="zh-CN" altLang="en-US"/>
              <a:t>、</a:t>
            </a:r>
            <a:r>
              <a:rPr lang="en-US" altLang="zh-CN"/>
              <a:t>Retrieval</a:t>
            </a:r>
            <a:r>
              <a:rPr lang="zh-CN" altLang="en-US"/>
              <a:t>、</a:t>
            </a:r>
            <a:r>
              <a:rPr lang="en-US" altLang="zh-CN"/>
              <a:t>Chains</a:t>
            </a:r>
            <a:r>
              <a:rPr lang="zh-CN" altLang="en-US"/>
              <a:t>、</a:t>
            </a:r>
            <a:r>
              <a:rPr lang="en-US" altLang="zh-CN"/>
              <a:t>Memory</a:t>
            </a:r>
            <a:r>
              <a:rPr lang="zh-CN" altLang="en-US"/>
              <a:t>、</a:t>
            </a:r>
            <a:r>
              <a:rPr lang="en-US" altLang="zh-CN"/>
              <a:t>Agents</a:t>
            </a:r>
            <a:r>
              <a:rPr lang="zh-CN" altLang="en-US"/>
              <a:t>和</a:t>
            </a:r>
            <a:r>
              <a:rPr lang="en-US" altLang="zh-CN"/>
              <a:t>Callbacks</a:t>
            </a:r>
            <a:r>
              <a:rPr lang="zh-CN" altLang="en-US"/>
              <a:t>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- **Model I/O**</a:t>
            </a:r>
            <a:r>
              <a:rPr lang="zh-CN" altLang="en-US"/>
              <a:t>：</a:t>
            </a:r>
            <a:r>
              <a:rPr lang="en-US" altLang="zh-CN"/>
              <a:t>AI</a:t>
            </a:r>
            <a:r>
              <a:rPr lang="zh-CN" altLang="en-US"/>
              <a:t>应用的核心部分，其中包括输入、</a:t>
            </a:r>
            <a:r>
              <a:rPr lang="en-US" altLang="zh-CN"/>
              <a:t>Model</a:t>
            </a:r>
            <a:r>
              <a:rPr lang="zh-CN" altLang="en-US"/>
              <a:t>和输出。</a:t>
            </a:r>
            <a:endParaRPr lang="zh-CN" altLang="en-US"/>
          </a:p>
          <a:p>
            <a:r>
              <a:rPr lang="en-US" altLang="zh-CN"/>
              <a:t>- **Retrieval**</a:t>
            </a:r>
            <a:r>
              <a:rPr lang="zh-CN" altLang="en-US"/>
              <a:t>：</a:t>
            </a:r>
            <a:r>
              <a:rPr lang="en-US" altLang="zh-CN"/>
              <a:t>“</a:t>
            </a:r>
            <a:r>
              <a:rPr lang="zh-CN" altLang="en-US"/>
              <a:t>检索</a:t>
            </a:r>
            <a:r>
              <a:rPr lang="en-US" altLang="zh-CN"/>
              <a:t>“——</a:t>
            </a:r>
            <a:r>
              <a:rPr lang="zh-CN" altLang="en-US"/>
              <a:t>该功能与向量数据密切库相关，是在向量数据库中搜索与问题相关的文档内容。</a:t>
            </a:r>
            <a:endParaRPr lang="zh-CN" altLang="en-US"/>
          </a:p>
          <a:p>
            <a:r>
              <a:rPr lang="en-US" altLang="zh-CN"/>
              <a:t>- **Memory**</a:t>
            </a:r>
            <a:r>
              <a:rPr lang="zh-CN" altLang="en-US"/>
              <a:t>：为对话形式的模型存储历史对话记录，在长对话过程中随时将这些历史对话记录重新加载，以保证对话的准确度。</a:t>
            </a:r>
            <a:endParaRPr lang="zh-CN" altLang="en-US"/>
          </a:p>
          <a:p>
            <a:r>
              <a:rPr lang="en-US" altLang="zh-CN"/>
              <a:t>- **Chains**</a:t>
            </a:r>
            <a:r>
              <a:rPr lang="zh-CN" altLang="en-US"/>
              <a:t>：虽然通过</a:t>
            </a:r>
            <a:r>
              <a:rPr lang="en-US" altLang="zh-CN"/>
              <a:t>Model IO</a:t>
            </a:r>
            <a:r>
              <a:rPr lang="zh-CN" altLang="en-US"/>
              <a:t>、</a:t>
            </a:r>
            <a:r>
              <a:rPr lang="en-US" altLang="zh-CN"/>
              <a:t>Retrieval</a:t>
            </a:r>
            <a:r>
              <a:rPr lang="zh-CN" altLang="en-US"/>
              <a:t>和</a:t>
            </a:r>
            <a:r>
              <a:rPr lang="en-US" altLang="zh-CN"/>
              <a:t>Memory</a:t>
            </a:r>
            <a:r>
              <a:rPr lang="zh-CN" altLang="en-US"/>
              <a:t>这三大模块可以初步完成应用搭建，但是若想实现一个强大且复杂的应用，还是需要将各模块组合起来，这时就可以利用</a:t>
            </a:r>
            <a:r>
              <a:rPr lang="en-US" altLang="zh-CN"/>
              <a:t>Chains</a:t>
            </a:r>
            <a:r>
              <a:rPr lang="zh-CN" altLang="en-US"/>
              <a:t>将其连接起来，从而丰富功能。</a:t>
            </a:r>
            <a:endParaRPr lang="zh-CN" altLang="en-US"/>
          </a:p>
          <a:p>
            <a:r>
              <a:rPr lang="en-US" altLang="zh-CN"/>
              <a:t>- **Agents**</a:t>
            </a:r>
            <a:r>
              <a:rPr lang="zh-CN" altLang="en-US"/>
              <a:t>：它可以通过用户的输入，理解用户的意图，返回一个特定的动作类型和参数，从而自主调用相关的工具来满足用户的需求，将应用更加智能化。</a:t>
            </a:r>
            <a:endParaRPr lang="zh-CN" altLang="en-US"/>
          </a:p>
          <a:p>
            <a:r>
              <a:rPr lang="en-US" altLang="zh-CN"/>
              <a:t>- **Callbacks**: </a:t>
            </a:r>
            <a:r>
              <a:rPr lang="zh-CN" altLang="en-US"/>
              <a:t>回调机制可以调用链路追踪，记录日志，帮助开发者更好的调试</a:t>
            </a:r>
            <a:r>
              <a:rPr lang="en-US" altLang="zh-CN"/>
              <a:t>LLM</a:t>
            </a:r>
            <a:r>
              <a:rPr lang="zh-CN" altLang="en-US"/>
              <a:t>模型。</a:t>
            </a:r>
            <a:endParaRPr lang="zh-CN" altLang="en-US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0DA2A2-8270-4ED5-BF5C-C8E0B3242F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LangChain</a:t>
            </a:r>
            <a:r>
              <a:rPr lang="zh-CN" altLang="en-US"/>
              <a:t>由</a:t>
            </a:r>
            <a:r>
              <a:rPr lang="en-US" altLang="zh-CN"/>
              <a:t>6</a:t>
            </a:r>
            <a:r>
              <a:rPr lang="zh-CN" altLang="en-US"/>
              <a:t>个</a:t>
            </a:r>
            <a:r>
              <a:rPr lang="en-US" altLang="zh-CN"/>
              <a:t>module</a:t>
            </a:r>
            <a:r>
              <a:rPr lang="zh-CN" altLang="en-US"/>
              <a:t>组成，分别是</a:t>
            </a:r>
            <a:r>
              <a:rPr lang="en-US" altLang="zh-CN"/>
              <a:t>Model IO</a:t>
            </a:r>
            <a:r>
              <a:rPr lang="zh-CN" altLang="en-US"/>
              <a:t>、</a:t>
            </a:r>
            <a:r>
              <a:rPr lang="en-US" altLang="zh-CN"/>
              <a:t>Retrieval</a:t>
            </a:r>
            <a:r>
              <a:rPr lang="zh-CN" altLang="en-US"/>
              <a:t>、</a:t>
            </a:r>
            <a:r>
              <a:rPr lang="en-US" altLang="zh-CN"/>
              <a:t>Chains</a:t>
            </a:r>
            <a:r>
              <a:rPr lang="zh-CN" altLang="en-US"/>
              <a:t>、</a:t>
            </a:r>
            <a:r>
              <a:rPr lang="en-US" altLang="zh-CN"/>
              <a:t>Memory</a:t>
            </a:r>
            <a:r>
              <a:rPr lang="zh-CN" altLang="en-US"/>
              <a:t>、</a:t>
            </a:r>
            <a:r>
              <a:rPr lang="en-US" altLang="zh-CN"/>
              <a:t>Agents</a:t>
            </a:r>
            <a:r>
              <a:rPr lang="zh-CN" altLang="en-US"/>
              <a:t>和</a:t>
            </a:r>
            <a:r>
              <a:rPr lang="en-US" altLang="zh-CN"/>
              <a:t>Callbacks</a:t>
            </a:r>
            <a:r>
              <a:rPr lang="zh-CN" altLang="en-US"/>
              <a:t>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- **Model I/O**</a:t>
            </a:r>
            <a:r>
              <a:rPr lang="zh-CN" altLang="en-US"/>
              <a:t>：</a:t>
            </a:r>
            <a:r>
              <a:rPr lang="en-US" altLang="zh-CN"/>
              <a:t>AI</a:t>
            </a:r>
            <a:r>
              <a:rPr lang="zh-CN" altLang="en-US"/>
              <a:t>应用的核心部分，其中包括输入、</a:t>
            </a:r>
            <a:r>
              <a:rPr lang="en-US" altLang="zh-CN"/>
              <a:t>Model</a:t>
            </a:r>
            <a:r>
              <a:rPr lang="zh-CN" altLang="en-US"/>
              <a:t>和输出。</a:t>
            </a:r>
            <a:endParaRPr lang="zh-CN" altLang="en-US"/>
          </a:p>
          <a:p>
            <a:r>
              <a:rPr lang="en-US" altLang="zh-CN"/>
              <a:t>- **Retrieval**</a:t>
            </a:r>
            <a:r>
              <a:rPr lang="zh-CN" altLang="en-US"/>
              <a:t>：</a:t>
            </a:r>
            <a:r>
              <a:rPr lang="en-US" altLang="zh-CN"/>
              <a:t>“</a:t>
            </a:r>
            <a:r>
              <a:rPr lang="zh-CN" altLang="en-US"/>
              <a:t>检索</a:t>
            </a:r>
            <a:r>
              <a:rPr lang="en-US" altLang="zh-CN"/>
              <a:t>“——</a:t>
            </a:r>
            <a:r>
              <a:rPr lang="zh-CN" altLang="en-US"/>
              <a:t>该功能与向量数据密切库相关，是在向量数据库中搜索与问题相关的文档内容。</a:t>
            </a:r>
            <a:endParaRPr lang="zh-CN" altLang="en-US"/>
          </a:p>
          <a:p>
            <a:r>
              <a:rPr lang="en-US" altLang="zh-CN"/>
              <a:t>- **Memory**</a:t>
            </a:r>
            <a:r>
              <a:rPr lang="zh-CN" altLang="en-US"/>
              <a:t>：为对话形式的模型存储历史对话记录，在长对话过程中随时将这些历史对话记录重新加载，以保证对话的准确度。</a:t>
            </a:r>
            <a:endParaRPr lang="zh-CN" altLang="en-US"/>
          </a:p>
          <a:p>
            <a:r>
              <a:rPr lang="en-US" altLang="zh-CN"/>
              <a:t>- **Chains**</a:t>
            </a:r>
            <a:r>
              <a:rPr lang="zh-CN" altLang="en-US"/>
              <a:t>：虽然通过</a:t>
            </a:r>
            <a:r>
              <a:rPr lang="en-US" altLang="zh-CN"/>
              <a:t>Model IO</a:t>
            </a:r>
            <a:r>
              <a:rPr lang="zh-CN" altLang="en-US"/>
              <a:t>、</a:t>
            </a:r>
            <a:r>
              <a:rPr lang="en-US" altLang="zh-CN"/>
              <a:t>Retrieval</a:t>
            </a:r>
            <a:r>
              <a:rPr lang="zh-CN" altLang="en-US"/>
              <a:t>和</a:t>
            </a:r>
            <a:r>
              <a:rPr lang="en-US" altLang="zh-CN"/>
              <a:t>Memory</a:t>
            </a:r>
            <a:r>
              <a:rPr lang="zh-CN" altLang="en-US"/>
              <a:t>这三大模块可以初步完成应用搭建，但是若想实现一个强大且复杂的应用，还是需要将各模块组合起来，这时就可以利用</a:t>
            </a:r>
            <a:r>
              <a:rPr lang="en-US" altLang="zh-CN"/>
              <a:t>Chains</a:t>
            </a:r>
            <a:r>
              <a:rPr lang="zh-CN" altLang="en-US"/>
              <a:t>将其连接起来，从而丰富功能。</a:t>
            </a:r>
            <a:endParaRPr lang="zh-CN" altLang="en-US"/>
          </a:p>
          <a:p>
            <a:r>
              <a:rPr lang="en-US" altLang="zh-CN"/>
              <a:t>- **Agents**</a:t>
            </a:r>
            <a:r>
              <a:rPr lang="zh-CN" altLang="en-US"/>
              <a:t>：它可以通过用户的输入，理解用户的意图，返回一个特定的动作类型和参数，从而自主调用相关的工具来满足用户的需求，将应用更加智能化。</a:t>
            </a:r>
            <a:endParaRPr lang="zh-CN" altLang="en-US"/>
          </a:p>
          <a:p>
            <a:r>
              <a:rPr lang="en-US" altLang="zh-CN"/>
              <a:t>- **Callbacks**: </a:t>
            </a:r>
            <a:r>
              <a:rPr lang="zh-CN" altLang="en-US"/>
              <a:t>回调机制可以调用链路追踪，记录日志，帮助开发者更好的调试</a:t>
            </a:r>
            <a:r>
              <a:rPr lang="en-US" altLang="zh-CN"/>
              <a:t>LLM</a:t>
            </a:r>
            <a:r>
              <a:rPr lang="zh-CN" altLang="en-US"/>
              <a:t>模型。</a:t>
            </a:r>
            <a:endParaRPr lang="zh-CN" altLang="en-US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0DA2A2-8270-4ED5-BF5C-C8E0B3242F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0DA2A2-8270-4ED5-BF5C-C8E0B3242F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LangChain</a:t>
            </a:r>
            <a:r>
              <a:rPr lang="zh-CN" altLang="en-US"/>
              <a:t>由</a:t>
            </a:r>
            <a:r>
              <a:rPr lang="en-US" altLang="zh-CN"/>
              <a:t>6</a:t>
            </a:r>
            <a:r>
              <a:rPr lang="zh-CN" altLang="en-US"/>
              <a:t>个</a:t>
            </a:r>
            <a:r>
              <a:rPr lang="en-US" altLang="zh-CN"/>
              <a:t>module</a:t>
            </a:r>
            <a:r>
              <a:rPr lang="zh-CN" altLang="en-US"/>
              <a:t>组成，分别是</a:t>
            </a:r>
            <a:r>
              <a:rPr lang="en-US" altLang="zh-CN"/>
              <a:t>Model IO</a:t>
            </a:r>
            <a:r>
              <a:rPr lang="zh-CN" altLang="en-US"/>
              <a:t>、</a:t>
            </a:r>
            <a:r>
              <a:rPr lang="en-US" altLang="zh-CN"/>
              <a:t>Retrieval</a:t>
            </a:r>
            <a:r>
              <a:rPr lang="zh-CN" altLang="en-US"/>
              <a:t>、</a:t>
            </a:r>
            <a:r>
              <a:rPr lang="en-US" altLang="zh-CN"/>
              <a:t>Chains</a:t>
            </a:r>
            <a:r>
              <a:rPr lang="zh-CN" altLang="en-US"/>
              <a:t>、</a:t>
            </a:r>
            <a:r>
              <a:rPr lang="en-US" altLang="zh-CN"/>
              <a:t>Memory</a:t>
            </a:r>
            <a:r>
              <a:rPr lang="zh-CN" altLang="en-US"/>
              <a:t>、</a:t>
            </a:r>
            <a:r>
              <a:rPr lang="en-US" altLang="zh-CN"/>
              <a:t>Agents</a:t>
            </a:r>
            <a:r>
              <a:rPr lang="zh-CN" altLang="en-US"/>
              <a:t>和</a:t>
            </a:r>
            <a:r>
              <a:rPr lang="en-US" altLang="zh-CN"/>
              <a:t>Callbacks</a:t>
            </a:r>
            <a:r>
              <a:rPr lang="zh-CN" altLang="en-US"/>
              <a:t>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- **Model I/O**</a:t>
            </a:r>
            <a:r>
              <a:rPr lang="zh-CN" altLang="en-US"/>
              <a:t>：</a:t>
            </a:r>
            <a:r>
              <a:rPr lang="en-US" altLang="zh-CN"/>
              <a:t>AI</a:t>
            </a:r>
            <a:r>
              <a:rPr lang="zh-CN" altLang="en-US"/>
              <a:t>应用的核心部分，其中包括输入、</a:t>
            </a:r>
            <a:r>
              <a:rPr lang="en-US" altLang="zh-CN"/>
              <a:t>Model</a:t>
            </a:r>
            <a:r>
              <a:rPr lang="zh-CN" altLang="en-US"/>
              <a:t>和输出。</a:t>
            </a:r>
            <a:endParaRPr lang="zh-CN" altLang="en-US"/>
          </a:p>
          <a:p>
            <a:r>
              <a:rPr lang="en-US" altLang="zh-CN"/>
              <a:t>- **Retrieval**</a:t>
            </a:r>
            <a:r>
              <a:rPr lang="zh-CN" altLang="en-US"/>
              <a:t>：</a:t>
            </a:r>
            <a:r>
              <a:rPr lang="en-US" altLang="zh-CN"/>
              <a:t>“</a:t>
            </a:r>
            <a:r>
              <a:rPr lang="zh-CN" altLang="en-US"/>
              <a:t>检索</a:t>
            </a:r>
            <a:r>
              <a:rPr lang="en-US" altLang="zh-CN"/>
              <a:t>“——</a:t>
            </a:r>
            <a:r>
              <a:rPr lang="zh-CN" altLang="en-US"/>
              <a:t>该功能与向量数据密切库相关，是在向量数据库中搜索与问题相关的文档内容。</a:t>
            </a:r>
            <a:endParaRPr lang="zh-CN" altLang="en-US"/>
          </a:p>
          <a:p>
            <a:r>
              <a:rPr lang="en-US" altLang="zh-CN"/>
              <a:t>- **Memory**</a:t>
            </a:r>
            <a:r>
              <a:rPr lang="zh-CN" altLang="en-US"/>
              <a:t>：为对话形式的模型存储历史对话记录，在长对话过程中随时将这些历史对话记录重新加载，以保证对话的准确度。</a:t>
            </a:r>
            <a:endParaRPr lang="zh-CN" altLang="en-US"/>
          </a:p>
          <a:p>
            <a:r>
              <a:rPr lang="en-US" altLang="zh-CN"/>
              <a:t>- **Chains**</a:t>
            </a:r>
            <a:r>
              <a:rPr lang="zh-CN" altLang="en-US"/>
              <a:t>：虽然通过</a:t>
            </a:r>
            <a:r>
              <a:rPr lang="en-US" altLang="zh-CN"/>
              <a:t>Model IO</a:t>
            </a:r>
            <a:r>
              <a:rPr lang="zh-CN" altLang="en-US"/>
              <a:t>、</a:t>
            </a:r>
            <a:r>
              <a:rPr lang="en-US" altLang="zh-CN"/>
              <a:t>Retrieval</a:t>
            </a:r>
            <a:r>
              <a:rPr lang="zh-CN" altLang="en-US"/>
              <a:t>和</a:t>
            </a:r>
            <a:r>
              <a:rPr lang="en-US" altLang="zh-CN"/>
              <a:t>Memory</a:t>
            </a:r>
            <a:r>
              <a:rPr lang="zh-CN" altLang="en-US"/>
              <a:t>这三大模块可以初步完成应用搭建，但是若想实现一个强大且复杂的应用，还是需要将各模块组合起来，这时就可以利用</a:t>
            </a:r>
            <a:r>
              <a:rPr lang="en-US" altLang="zh-CN"/>
              <a:t>Chains</a:t>
            </a:r>
            <a:r>
              <a:rPr lang="zh-CN" altLang="en-US"/>
              <a:t>将其连接起来，从而丰富功能。</a:t>
            </a:r>
            <a:endParaRPr lang="zh-CN" altLang="en-US"/>
          </a:p>
          <a:p>
            <a:r>
              <a:rPr lang="en-US" altLang="zh-CN"/>
              <a:t>- **Agents**</a:t>
            </a:r>
            <a:r>
              <a:rPr lang="zh-CN" altLang="en-US"/>
              <a:t>：它可以通过用户的输入，理解用户的意图，返回一个特定的动作类型和参数，从而自主调用相关的工具来满足用户的需求，将应用更加智能化。</a:t>
            </a:r>
            <a:endParaRPr lang="zh-CN" altLang="en-US"/>
          </a:p>
          <a:p>
            <a:r>
              <a:rPr lang="en-US" altLang="zh-CN"/>
              <a:t>- **Callbacks**: </a:t>
            </a:r>
            <a:r>
              <a:rPr lang="zh-CN" altLang="en-US"/>
              <a:t>回调机制可以调用链路追踪，记录日志，帮助开发者更好的调试</a:t>
            </a:r>
            <a:r>
              <a:rPr lang="en-US" altLang="zh-CN"/>
              <a:t>LLM</a:t>
            </a:r>
            <a:r>
              <a:rPr lang="zh-CN" altLang="en-US"/>
              <a:t>模型。</a:t>
            </a:r>
            <a:endParaRPr lang="zh-CN" altLang="en-US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0DA2A2-8270-4ED5-BF5C-C8E0B3242F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LangChain</a:t>
            </a:r>
            <a:r>
              <a:rPr lang="zh-CN" altLang="en-US"/>
              <a:t>由</a:t>
            </a:r>
            <a:r>
              <a:rPr lang="en-US" altLang="zh-CN"/>
              <a:t>6</a:t>
            </a:r>
            <a:r>
              <a:rPr lang="zh-CN" altLang="en-US"/>
              <a:t>个</a:t>
            </a:r>
            <a:r>
              <a:rPr lang="en-US" altLang="zh-CN"/>
              <a:t>module</a:t>
            </a:r>
            <a:r>
              <a:rPr lang="zh-CN" altLang="en-US"/>
              <a:t>组成，分别是</a:t>
            </a:r>
            <a:r>
              <a:rPr lang="en-US" altLang="zh-CN"/>
              <a:t>Model IO</a:t>
            </a:r>
            <a:r>
              <a:rPr lang="zh-CN" altLang="en-US"/>
              <a:t>、</a:t>
            </a:r>
            <a:r>
              <a:rPr lang="en-US" altLang="zh-CN"/>
              <a:t>Retrieval</a:t>
            </a:r>
            <a:r>
              <a:rPr lang="zh-CN" altLang="en-US"/>
              <a:t>、</a:t>
            </a:r>
            <a:r>
              <a:rPr lang="en-US" altLang="zh-CN"/>
              <a:t>Chains</a:t>
            </a:r>
            <a:r>
              <a:rPr lang="zh-CN" altLang="en-US"/>
              <a:t>、</a:t>
            </a:r>
            <a:r>
              <a:rPr lang="en-US" altLang="zh-CN"/>
              <a:t>Memory</a:t>
            </a:r>
            <a:r>
              <a:rPr lang="zh-CN" altLang="en-US"/>
              <a:t>、</a:t>
            </a:r>
            <a:r>
              <a:rPr lang="en-US" altLang="zh-CN"/>
              <a:t>Agents</a:t>
            </a:r>
            <a:r>
              <a:rPr lang="zh-CN" altLang="en-US"/>
              <a:t>和</a:t>
            </a:r>
            <a:r>
              <a:rPr lang="en-US" altLang="zh-CN"/>
              <a:t>Callbacks</a:t>
            </a:r>
            <a:r>
              <a:rPr lang="zh-CN" altLang="en-US"/>
              <a:t>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- **Model I/O**</a:t>
            </a:r>
            <a:r>
              <a:rPr lang="zh-CN" altLang="en-US"/>
              <a:t>：</a:t>
            </a:r>
            <a:r>
              <a:rPr lang="en-US" altLang="zh-CN"/>
              <a:t>AI</a:t>
            </a:r>
            <a:r>
              <a:rPr lang="zh-CN" altLang="en-US"/>
              <a:t>应用的核心部分，其中包括输入、</a:t>
            </a:r>
            <a:r>
              <a:rPr lang="en-US" altLang="zh-CN"/>
              <a:t>Model</a:t>
            </a:r>
            <a:r>
              <a:rPr lang="zh-CN" altLang="en-US"/>
              <a:t>和输出。</a:t>
            </a:r>
            <a:endParaRPr lang="zh-CN" altLang="en-US"/>
          </a:p>
          <a:p>
            <a:r>
              <a:rPr lang="en-US" altLang="zh-CN"/>
              <a:t>- **Retrieval**</a:t>
            </a:r>
            <a:r>
              <a:rPr lang="zh-CN" altLang="en-US"/>
              <a:t>：</a:t>
            </a:r>
            <a:r>
              <a:rPr lang="en-US" altLang="zh-CN"/>
              <a:t>“</a:t>
            </a:r>
            <a:r>
              <a:rPr lang="zh-CN" altLang="en-US"/>
              <a:t>检索</a:t>
            </a:r>
            <a:r>
              <a:rPr lang="en-US" altLang="zh-CN"/>
              <a:t>“——</a:t>
            </a:r>
            <a:r>
              <a:rPr lang="zh-CN" altLang="en-US"/>
              <a:t>该功能与向量数据密切库相关，是在向量数据库中搜索与问题相关的文档内容。</a:t>
            </a:r>
            <a:endParaRPr lang="zh-CN" altLang="en-US"/>
          </a:p>
          <a:p>
            <a:r>
              <a:rPr lang="en-US" altLang="zh-CN"/>
              <a:t>- **Memory**</a:t>
            </a:r>
            <a:r>
              <a:rPr lang="zh-CN" altLang="en-US"/>
              <a:t>：为对话形式的模型存储历史对话记录，在长对话过程中随时将这些历史对话记录重新加载，以保证对话的准确度。</a:t>
            </a:r>
            <a:endParaRPr lang="zh-CN" altLang="en-US"/>
          </a:p>
          <a:p>
            <a:r>
              <a:rPr lang="en-US" altLang="zh-CN"/>
              <a:t>- **Chains**</a:t>
            </a:r>
            <a:r>
              <a:rPr lang="zh-CN" altLang="en-US"/>
              <a:t>：虽然通过</a:t>
            </a:r>
            <a:r>
              <a:rPr lang="en-US" altLang="zh-CN"/>
              <a:t>Model IO</a:t>
            </a:r>
            <a:r>
              <a:rPr lang="zh-CN" altLang="en-US"/>
              <a:t>、</a:t>
            </a:r>
            <a:r>
              <a:rPr lang="en-US" altLang="zh-CN"/>
              <a:t>Retrieval</a:t>
            </a:r>
            <a:r>
              <a:rPr lang="zh-CN" altLang="en-US"/>
              <a:t>和</a:t>
            </a:r>
            <a:r>
              <a:rPr lang="en-US" altLang="zh-CN"/>
              <a:t>Memory</a:t>
            </a:r>
            <a:r>
              <a:rPr lang="zh-CN" altLang="en-US"/>
              <a:t>这三大模块可以初步完成应用搭建，但是若想实现一个强大且复杂的应用，还是需要将各模块组合起来，这时就可以利用</a:t>
            </a:r>
            <a:r>
              <a:rPr lang="en-US" altLang="zh-CN"/>
              <a:t>Chains</a:t>
            </a:r>
            <a:r>
              <a:rPr lang="zh-CN" altLang="en-US"/>
              <a:t>将其连接起来，从而丰富功能。</a:t>
            </a:r>
            <a:endParaRPr lang="zh-CN" altLang="en-US"/>
          </a:p>
          <a:p>
            <a:r>
              <a:rPr lang="en-US" altLang="zh-CN"/>
              <a:t>- **Agents**</a:t>
            </a:r>
            <a:r>
              <a:rPr lang="zh-CN" altLang="en-US"/>
              <a:t>：它可以通过用户的输入，理解用户的意图，返回一个特定的动作类型和参数，从而自主调用相关的工具来满足用户的需求，将应用更加智能化。</a:t>
            </a:r>
            <a:endParaRPr lang="zh-CN" altLang="en-US"/>
          </a:p>
          <a:p>
            <a:r>
              <a:rPr lang="en-US" altLang="zh-CN"/>
              <a:t>- **Callbacks**: </a:t>
            </a:r>
            <a:r>
              <a:rPr lang="zh-CN" altLang="en-US"/>
              <a:t>回调机制可以调用链路追踪，记录日志，帮助开发者更好的调试</a:t>
            </a:r>
            <a:r>
              <a:rPr lang="en-US" altLang="zh-CN"/>
              <a:t>LLM</a:t>
            </a:r>
            <a:r>
              <a:rPr lang="zh-CN" altLang="en-US"/>
              <a:t>模型。</a:t>
            </a:r>
            <a:endParaRPr lang="zh-CN" altLang="en-US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0DA2A2-8270-4ED5-BF5C-C8E0B3242F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LangChain</a:t>
            </a:r>
            <a:r>
              <a:rPr lang="zh-CN" altLang="en-US"/>
              <a:t>由</a:t>
            </a:r>
            <a:r>
              <a:rPr lang="en-US" altLang="zh-CN"/>
              <a:t>6</a:t>
            </a:r>
            <a:r>
              <a:rPr lang="zh-CN" altLang="en-US"/>
              <a:t>个</a:t>
            </a:r>
            <a:r>
              <a:rPr lang="en-US" altLang="zh-CN"/>
              <a:t>module</a:t>
            </a:r>
            <a:r>
              <a:rPr lang="zh-CN" altLang="en-US"/>
              <a:t>组成，分别是</a:t>
            </a:r>
            <a:r>
              <a:rPr lang="en-US" altLang="zh-CN"/>
              <a:t>Model IO</a:t>
            </a:r>
            <a:r>
              <a:rPr lang="zh-CN" altLang="en-US"/>
              <a:t>、</a:t>
            </a:r>
            <a:r>
              <a:rPr lang="en-US" altLang="zh-CN"/>
              <a:t>Retrieval</a:t>
            </a:r>
            <a:r>
              <a:rPr lang="zh-CN" altLang="en-US"/>
              <a:t>、</a:t>
            </a:r>
            <a:r>
              <a:rPr lang="en-US" altLang="zh-CN"/>
              <a:t>Chains</a:t>
            </a:r>
            <a:r>
              <a:rPr lang="zh-CN" altLang="en-US"/>
              <a:t>、</a:t>
            </a:r>
            <a:r>
              <a:rPr lang="en-US" altLang="zh-CN"/>
              <a:t>Memory</a:t>
            </a:r>
            <a:r>
              <a:rPr lang="zh-CN" altLang="en-US"/>
              <a:t>、</a:t>
            </a:r>
            <a:r>
              <a:rPr lang="en-US" altLang="zh-CN"/>
              <a:t>Agents</a:t>
            </a:r>
            <a:r>
              <a:rPr lang="zh-CN" altLang="en-US"/>
              <a:t>和</a:t>
            </a:r>
            <a:r>
              <a:rPr lang="en-US" altLang="zh-CN"/>
              <a:t>Callbacks</a:t>
            </a:r>
            <a:r>
              <a:rPr lang="zh-CN" altLang="en-US"/>
              <a:t>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- **Model I/O**</a:t>
            </a:r>
            <a:r>
              <a:rPr lang="zh-CN" altLang="en-US"/>
              <a:t>：</a:t>
            </a:r>
            <a:r>
              <a:rPr lang="en-US" altLang="zh-CN"/>
              <a:t>AI</a:t>
            </a:r>
            <a:r>
              <a:rPr lang="zh-CN" altLang="en-US"/>
              <a:t>应用的核心部分，其中包括输入、</a:t>
            </a:r>
            <a:r>
              <a:rPr lang="en-US" altLang="zh-CN"/>
              <a:t>Model</a:t>
            </a:r>
            <a:r>
              <a:rPr lang="zh-CN" altLang="en-US"/>
              <a:t>和输出。</a:t>
            </a:r>
            <a:endParaRPr lang="zh-CN" altLang="en-US"/>
          </a:p>
          <a:p>
            <a:r>
              <a:rPr lang="en-US" altLang="zh-CN"/>
              <a:t>- **Retrieval**</a:t>
            </a:r>
            <a:r>
              <a:rPr lang="zh-CN" altLang="en-US"/>
              <a:t>：</a:t>
            </a:r>
            <a:r>
              <a:rPr lang="en-US" altLang="zh-CN"/>
              <a:t>“</a:t>
            </a:r>
            <a:r>
              <a:rPr lang="zh-CN" altLang="en-US"/>
              <a:t>检索</a:t>
            </a:r>
            <a:r>
              <a:rPr lang="en-US" altLang="zh-CN"/>
              <a:t>“——</a:t>
            </a:r>
            <a:r>
              <a:rPr lang="zh-CN" altLang="en-US"/>
              <a:t>该功能与向量数据密切库相关，是在向量数据库中搜索与问题相关的文档内容。</a:t>
            </a:r>
            <a:endParaRPr lang="zh-CN" altLang="en-US"/>
          </a:p>
          <a:p>
            <a:r>
              <a:rPr lang="en-US" altLang="zh-CN"/>
              <a:t>- **Memory**</a:t>
            </a:r>
            <a:r>
              <a:rPr lang="zh-CN" altLang="en-US"/>
              <a:t>：为对话形式的模型存储历史对话记录，在长对话过程中随时将这些历史对话记录重新加载，以保证对话的准确度。</a:t>
            </a:r>
            <a:endParaRPr lang="zh-CN" altLang="en-US"/>
          </a:p>
          <a:p>
            <a:r>
              <a:rPr lang="en-US" altLang="zh-CN"/>
              <a:t>- **Chains**</a:t>
            </a:r>
            <a:r>
              <a:rPr lang="zh-CN" altLang="en-US"/>
              <a:t>：虽然通过</a:t>
            </a:r>
            <a:r>
              <a:rPr lang="en-US" altLang="zh-CN"/>
              <a:t>Model IO</a:t>
            </a:r>
            <a:r>
              <a:rPr lang="zh-CN" altLang="en-US"/>
              <a:t>、</a:t>
            </a:r>
            <a:r>
              <a:rPr lang="en-US" altLang="zh-CN"/>
              <a:t>Retrieval</a:t>
            </a:r>
            <a:r>
              <a:rPr lang="zh-CN" altLang="en-US"/>
              <a:t>和</a:t>
            </a:r>
            <a:r>
              <a:rPr lang="en-US" altLang="zh-CN"/>
              <a:t>Memory</a:t>
            </a:r>
            <a:r>
              <a:rPr lang="zh-CN" altLang="en-US"/>
              <a:t>这三大模块可以初步完成应用搭建，但是若想实现一个强大且复杂的应用，还是需要将各模块组合起来，这时就可以利用</a:t>
            </a:r>
            <a:r>
              <a:rPr lang="en-US" altLang="zh-CN"/>
              <a:t>Chains</a:t>
            </a:r>
            <a:r>
              <a:rPr lang="zh-CN" altLang="en-US"/>
              <a:t>将其连接起来，从而丰富功能。</a:t>
            </a:r>
            <a:endParaRPr lang="zh-CN" altLang="en-US"/>
          </a:p>
          <a:p>
            <a:r>
              <a:rPr lang="en-US" altLang="zh-CN"/>
              <a:t>- **Agents**</a:t>
            </a:r>
            <a:r>
              <a:rPr lang="zh-CN" altLang="en-US"/>
              <a:t>：它可以通过用户的输入，理解用户的意图，返回一个特定的动作类型和参数，从而自主调用相关的工具来满足用户的需求，将应用更加智能化。</a:t>
            </a:r>
            <a:endParaRPr lang="zh-CN" altLang="en-US"/>
          </a:p>
          <a:p>
            <a:r>
              <a:rPr lang="en-US" altLang="zh-CN"/>
              <a:t>- **Callbacks**: </a:t>
            </a:r>
            <a:r>
              <a:rPr lang="zh-CN" altLang="en-US"/>
              <a:t>回调机制可以调用链路追踪，记录日志，帮助开发者更好的调试</a:t>
            </a:r>
            <a:r>
              <a:rPr lang="en-US" altLang="zh-CN"/>
              <a:t>LLM</a:t>
            </a:r>
            <a:r>
              <a:rPr lang="zh-CN" altLang="en-US"/>
              <a:t>模型。</a:t>
            </a:r>
            <a:endParaRPr lang="zh-CN" altLang="en-US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0DA2A2-8270-4ED5-BF5C-C8E0B3242F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LangChain</a:t>
            </a:r>
            <a:r>
              <a:rPr lang="zh-CN" altLang="en-US"/>
              <a:t>由</a:t>
            </a:r>
            <a:r>
              <a:rPr lang="en-US" altLang="zh-CN"/>
              <a:t>6</a:t>
            </a:r>
            <a:r>
              <a:rPr lang="zh-CN" altLang="en-US"/>
              <a:t>个</a:t>
            </a:r>
            <a:r>
              <a:rPr lang="en-US" altLang="zh-CN"/>
              <a:t>module</a:t>
            </a:r>
            <a:r>
              <a:rPr lang="zh-CN" altLang="en-US"/>
              <a:t>组成，分别是</a:t>
            </a:r>
            <a:r>
              <a:rPr lang="en-US" altLang="zh-CN"/>
              <a:t>Model IO</a:t>
            </a:r>
            <a:r>
              <a:rPr lang="zh-CN" altLang="en-US"/>
              <a:t>、</a:t>
            </a:r>
            <a:r>
              <a:rPr lang="en-US" altLang="zh-CN"/>
              <a:t>Retrieval</a:t>
            </a:r>
            <a:r>
              <a:rPr lang="zh-CN" altLang="en-US"/>
              <a:t>、</a:t>
            </a:r>
            <a:r>
              <a:rPr lang="en-US" altLang="zh-CN"/>
              <a:t>Chains</a:t>
            </a:r>
            <a:r>
              <a:rPr lang="zh-CN" altLang="en-US"/>
              <a:t>、</a:t>
            </a:r>
            <a:r>
              <a:rPr lang="en-US" altLang="zh-CN"/>
              <a:t>Memory</a:t>
            </a:r>
            <a:r>
              <a:rPr lang="zh-CN" altLang="en-US"/>
              <a:t>、</a:t>
            </a:r>
            <a:r>
              <a:rPr lang="en-US" altLang="zh-CN"/>
              <a:t>Agents</a:t>
            </a:r>
            <a:r>
              <a:rPr lang="zh-CN" altLang="en-US"/>
              <a:t>和</a:t>
            </a:r>
            <a:r>
              <a:rPr lang="en-US" altLang="zh-CN"/>
              <a:t>Callbacks</a:t>
            </a:r>
            <a:r>
              <a:rPr lang="zh-CN" altLang="en-US"/>
              <a:t>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- **Model I/O**</a:t>
            </a:r>
            <a:r>
              <a:rPr lang="zh-CN" altLang="en-US"/>
              <a:t>：</a:t>
            </a:r>
            <a:r>
              <a:rPr lang="en-US" altLang="zh-CN"/>
              <a:t>AI</a:t>
            </a:r>
            <a:r>
              <a:rPr lang="zh-CN" altLang="en-US"/>
              <a:t>应用的核心部分，其中包括输入、</a:t>
            </a:r>
            <a:r>
              <a:rPr lang="en-US" altLang="zh-CN"/>
              <a:t>Model</a:t>
            </a:r>
            <a:r>
              <a:rPr lang="zh-CN" altLang="en-US"/>
              <a:t>和输出。</a:t>
            </a:r>
            <a:endParaRPr lang="zh-CN" altLang="en-US"/>
          </a:p>
          <a:p>
            <a:r>
              <a:rPr lang="en-US" altLang="zh-CN"/>
              <a:t>- **Retrieval**</a:t>
            </a:r>
            <a:r>
              <a:rPr lang="zh-CN" altLang="en-US"/>
              <a:t>：</a:t>
            </a:r>
            <a:r>
              <a:rPr lang="en-US" altLang="zh-CN"/>
              <a:t>“</a:t>
            </a:r>
            <a:r>
              <a:rPr lang="zh-CN" altLang="en-US"/>
              <a:t>检索</a:t>
            </a:r>
            <a:r>
              <a:rPr lang="en-US" altLang="zh-CN"/>
              <a:t>“——</a:t>
            </a:r>
            <a:r>
              <a:rPr lang="zh-CN" altLang="en-US"/>
              <a:t>该功能与向量数据密切库相关，是在向量数据库中搜索与问题相关的文档内容。</a:t>
            </a:r>
            <a:endParaRPr lang="zh-CN" altLang="en-US"/>
          </a:p>
          <a:p>
            <a:r>
              <a:rPr lang="en-US" altLang="zh-CN"/>
              <a:t>- **Memory**</a:t>
            </a:r>
            <a:r>
              <a:rPr lang="zh-CN" altLang="en-US"/>
              <a:t>：为对话形式的模型存储历史对话记录，在长对话过程中随时将这些历史对话记录重新加载，以保证对话的准确度。</a:t>
            </a:r>
            <a:endParaRPr lang="zh-CN" altLang="en-US"/>
          </a:p>
          <a:p>
            <a:r>
              <a:rPr lang="en-US" altLang="zh-CN"/>
              <a:t>- **Chains**</a:t>
            </a:r>
            <a:r>
              <a:rPr lang="zh-CN" altLang="en-US"/>
              <a:t>：虽然通过</a:t>
            </a:r>
            <a:r>
              <a:rPr lang="en-US" altLang="zh-CN"/>
              <a:t>Model IO</a:t>
            </a:r>
            <a:r>
              <a:rPr lang="zh-CN" altLang="en-US"/>
              <a:t>、</a:t>
            </a:r>
            <a:r>
              <a:rPr lang="en-US" altLang="zh-CN"/>
              <a:t>Retrieval</a:t>
            </a:r>
            <a:r>
              <a:rPr lang="zh-CN" altLang="en-US"/>
              <a:t>和</a:t>
            </a:r>
            <a:r>
              <a:rPr lang="en-US" altLang="zh-CN"/>
              <a:t>Memory</a:t>
            </a:r>
            <a:r>
              <a:rPr lang="zh-CN" altLang="en-US"/>
              <a:t>这三大模块可以初步完成应用搭建，但是若想实现一个强大且复杂的应用，还是需要将各模块组合起来，这时就可以利用</a:t>
            </a:r>
            <a:r>
              <a:rPr lang="en-US" altLang="zh-CN"/>
              <a:t>Chains</a:t>
            </a:r>
            <a:r>
              <a:rPr lang="zh-CN" altLang="en-US"/>
              <a:t>将其连接起来，从而丰富功能。</a:t>
            </a:r>
            <a:endParaRPr lang="zh-CN" altLang="en-US"/>
          </a:p>
          <a:p>
            <a:r>
              <a:rPr lang="en-US" altLang="zh-CN"/>
              <a:t>- **Agents**</a:t>
            </a:r>
            <a:r>
              <a:rPr lang="zh-CN" altLang="en-US"/>
              <a:t>：它可以通过用户的输入，理解用户的意图，返回一个特定的动作类型和参数，从而自主调用相关的工具来满足用户的需求，将应用更加智能化。</a:t>
            </a:r>
            <a:endParaRPr lang="zh-CN" altLang="en-US"/>
          </a:p>
          <a:p>
            <a:r>
              <a:rPr lang="en-US" altLang="zh-CN"/>
              <a:t>- **Callbacks**: </a:t>
            </a:r>
            <a:r>
              <a:rPr lang="zh-CN" altLang="en-US"/>
              <a:t>回调机制可以调用链路追踪，记录日志，帮助开发者更好的调试</a:t>
            </a:r>
            <a:r>
              <a:rPr lang="en-US" altLang="zh-CN"/>
              <a:t>LLM</a:t>
            </a:r>
            <a:r>
              <a:rPr lang="zh-CN" altLang="en-US"/>
              <a:t>模型。</a:t>
            </a:r>
            <a:endParaRPr lang="zh-CN" altLang="en-US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0DA2A2-8270-4ED5-BF5C-C8E0B3242F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0DA2A2-8270-4ED5-BF5C-C8E0B3242F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LangChain</a:t>
            </a:r>
            <a:r>
              <a:rPr lang="zh-CN" altLang="en-US"/>
              <a:t>由</a:t>
            </a:r>
            <a:r>
              <a:rPr lang="en-US" altLang="zh-CN"/>
              <a:t>6</a:t>
            </a:r>
            <a:r>
              <a:rPr lang="zh-CN" altLang="en-US"/>
              <a:t>个</a:t>
            </a:r>
            <a:r>
              <a:rPr lang="en-US" altLang="zh-CN"/>
              <a:t>module</a:t>
            </a:r>
            <a:r>
              <a:rPr lang="zh-CN" altLang="en-US"/>
              <a:t>组成，分别是</a:t>
            </a:r>
            <a:r>
              <a:rPr lang="en-US" altLang="zh-CN"/>
              <a:t>Model IO</a:t>
            </a:r>
            <a:r>
              <a:rPr lang="zh-CN" altLang="en-US"/>
              <a:t>、</a:t>
            </a:r>
            <a:r>
              <a:rPr lang="en-US" altLang="zh-CN"/>
              <a:t>Retrieval</a:t>
            </a:r>
            <a:r>
              <a:rPr lang="zh-CN" altLang="en-US"/>
              <a:t>、</a:t>
            </a:r>
            <a:r>
              <a:rPr lang="en-US" altLang="zh-CN"/>
              <a:t>Chains</a:t>
            </a:r>
            <a:r>
              <a:rPr lang="zh-CN" altLang="en-US"/>
              <a:t>、</a:t>
            </a:r>
            <a:r>
              <a:rPr lang="en-US" altLang="zh-CN"/>
              <a:t>Memory</a:t>
            </a:r>
            <a:r>
              <a:rPr lang="zh-CN" altLang="en-US"/>
              <a:t>、</a:t>
            </a:r>
            <a:r>
              <a:rPr lang="en-US" altLang="zh-CN"/>
              <a:t>Agents</a:t>
            </a:r>
            <a:r>
              <a:rPr lang="zh-CN" altLang="en-US"/>
              <a:t>和</a:t>
            </a:r>
            <a:r>
              <a:rPr lang="en-US" altLang="zh-CN"/>
              <a:t>Callbacks</a:t>
            </a:r>
            <a:r>
              <a:rPr lang="zh-CN" altLang="en-US"/>
              <a:t>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- **Model I/O**</a:t>
            </a:r>
            <a:r>
              <a:rPr lang="zh-CN" altLang="en-US"/>
              <a:t>：</a:t>
            </a:r>
            <a:r>
              <a:rPr lang="en-US" altLang="zh-CN"/>
              <a:t>AI</a:t>
            </a:r>
            <a:r>
              <a:rPr lang="zh-CN" altLang="en-US"/>
              <a:t>应用的核心部分，其中包括输入、</a:t>
            </a:r>
            <a:r>
              <a:rPr lang="en-US" altLang="zh-CN"/>
              <a:t>Model</a:t>
            </a:r>
            <a:r>
              <a:rPr lang="zh-CN" altLang="en-US"/>
              <a:t>和输出。</a:t>
            </a:r>
            <a:endParaRPr lang="zh-CN" altLang="en-US"/>
          </a:p>
          <a:p>
            <a:r>
              <a:rPr lang="en-US" altLang="zh-CN"/>
              <a:t>- **Retrieval**</a:t>
            </a:r>
            <a:r>
              <a:rPr lang="zh-CN" altLang="en-US"/>
              <a:t>：</a:t>
            </a:r>
            <a:r>
              <a:rPr lang="en-US" altLang="zh-CN"/>
              <a:t>“</a:t>
            </a:r>
            <a:r>
              <a:rPr lang="zh-CN" altLang="en-US"/>
              <a:t>检索</a:t>
            </a:r>
            <a:r>
              <a:rPr lang="en-US" altLang="zh-CN"/>
              <a:t>“——</a:t>
            </a:r>
            <a:r>
              <a:rPr lang="zh-CN" altLang="en-US"/>
              <a:t>该功能与向量数据密切库相关，是在向量数据库中搜索与问题相关的文档内容。</a:t>
            </a:r>
            <a:endParaRPr lang="zh-CN" altLang="en-US"/>
          </a:p>
          <a:p>
            <a:r>
              <a:rPr lang="en-US" altLang="zh-CN"/>
              <a:t>- **Memory**</a:t>
            </a:r>
            <a:r>
              <a:rPr lang="zh-CN" altLang="en-US"/>
              <a:t>：为对话形式的模型存储历史对话记录，在长对话过程中随时将这些历史对话记录重新加载，以保证对话的准确度。</a:t>
            </a:r>
            <a:endParaRPr lang="zh-CN" altLang="en-US"/>
          </a:p>
          <a:p>
            <a:r>
              <a:rPr lang="en-US" altLang="zh-CN"/>
              <a:t>- **Chains**</a:t>
            </a:r>
            <a:r>
              <a:rPr lang="zh-CN" altLang="en-US"/>
              <a:t>：虽然通过</a:t>
            </a:r>
            <a:r>
              <a:rPr lang="en-US" altLang="zh-CN"/>
              <a:t>Model IO</a:t>
            </a:r>
            <a:r>
              <a:rPr lang="zh-CN" altLang="en-US"/>
              <a:t>、</a:t>
            </a:r>
            <a:r>
              <a:rPr lang="en-US" altLang="zh-CN"/>
              <a:t>Retrieval</a:t>
            </a:r>
            <a:r>
              <a:rPr lang="zh-CN" altLang="en-US"/>
              <a:t>和</a:t>
            </a:r>
            <a:r>
              <a:rPr lang="en-US" altLang="zh-CN"/>
              <a:t>Memory</a:t>
            </a:r>
            <a:r>
              <a:rPr lang="zh-CN" altLang="en-US"/>
              <a:t>这三大模块可以初步完成应用搭建，但是若想实现一个强大且复杂的应用，还是需要将各模块组合起来，这时就可以利用</a:t>
            </a:r>
            <a:r>
              <a:rPr lang="en-US" altLang="zh-CN"/>
              <a:t>Chains</a:t>
            </a:r>
            <a:r>
              <a:rPr lang="zh-CN" altLang="en-US"/>
              <a:t>将其连接起来，从而丰富功能。</a:t>
            </a:r>
            <a:endParaRPr lang="zh-CN" altLang="en-US"/>
          </a:p>
          <a:p>
            <a:r>
              <a:rPr lang="en-US" altLang="zh-CN"/>
              <a:t>- **Agents**</a:t>
            </a:r>
            <a:r>
              <a:rPr lang="zh-CN" altLang="en-US"/>
              <a:t>：它可以通过用户的输入，理解用户的意图，返回一个特定的动作类型和参数，从而自主调用相关的工具来满足用户的需求，将应用更加智能化。</a:t>
            </a:r>
            <a:endParaRPr lang="zh-CN" altLang="en-US"/>
          </a:p>
          <a:p>
            <a:r>
              <a:rPr lang="en-US" altLang="zh-CN"/>
              <a:t>- **Callbacks**: </a:t>
            </a:r>
            <a:r>
              <a:rPr lang="zh-CN" altLang="en-US"/>
              <a:t>回调机制可以调用链路追踪，记录日志，帮助开发者更好的调试</a:t>
            </a:r>
            <a:r>
              <a:rPr lang="en-US" altLang="zh-CN"/>
              <a:t>LLM</a:t>
            </a:r>
            <a:r>
              <a:rPr lang="zh-CN" altLang="en-US"/>
              <a:t>模型。</a:t>
            </a:r>
            <a:endParaRPr lang="zh-CN" altLang="en-US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0DA2A2-8270-4ED5-BF5C-C8E0B3242F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LangChain</a:t>
            </a:r>
            <a:r>
              <a:rPr lang="zh-CN" altLang="en-US"/>
              <a:t>由</a:t>
            </a:r>
            <a:r>
              <a:rPr lang="en-US" altLang="zh-CN"/>
              <a:t>6</a:t>
            </a:r>
            <a:r>
              <a:rPr lang="zh-CN" altLang="en-US"/>
              <a:t>个</a:t>
            </a:r>
            <a:r>
              <a:rPr lang="en-US" altLang="zh-CN"/>
              <a:t>module</a:t>
            </a:r>
            <a:r>
              <a:rPr lang="zh-CN" altLang="en-US"/>
              <a:t>组成，分别是</a:t>
            </a:r>
            <a:r>
              <a:rPr lang="en-US" altLang="zh-CN"/>
              <a:t>Model IO</a:t>
            </a:r>
            <a:r>
              <a:rPr lang="zh-CN" altLang="en-US"/>
              <a:t>、</a:t>
            </a:r>
            <a:r>
              <a:rPr lang="en-US" altLang="zh-CN"/>
              <a:t>Retrieval</a:t>
            </a:r>
            <a:r>
              <a:rPr lang="zh-CN" altLang="en-US"/>
              <a:t>、</a:t>
            </a:r>
            <a:r>
              <a:rPr lang="en-US" altLang="zh-CN"/>
              <a:t>Chains</a:t>
            </a:r>
            <a:r>
              <a:rPr lang="zh-CN" altLang="en-US"/>
              <a:t>、</a:t>
            </a:r>
            <a:r>
              <a:rPr lang="en-US" altLang="zh-CN"/>
              <a:t>Memory</a:t>
            </a:r>
            <a:r>
              <a:rPr lang="zh-CN" altLang="en-US"/>
              <a:t>、</a:t>
            </a:r>
            <a:r>
              <a:rPr lang="en-US" altLang="zh-CN"/>
              <a:t>Agents</a:t>
            </a:r>
            <a:r>
              <a:rPr lang="zh-CN" altLang="en-US"/>
              <a:t>和</a:t>
            </a:r>
            <a:r>
              <a:rPr lang="en-US" altLang="zh-CN"/>
              <a:t>Callbacks</a:t>
            </a:r>
            <a:r>
              <a:rPr lang="zh-CN" altLang="en-US"/>
              <a:t>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- **Model I/O**</a:t>
            </a:r>
            <a:r>
              <a:rPr lang="zh-CN" altLang="en-US"/>
              <a:t>：</a:t>
            </a:r>
            <a:r>
              <a:rPr lang="en-US" altLang="zh-CN"/>
              <a:t>AI</a:t>
            </a:r>
            <a:r>
              <a:rPr lang="zh-CN" altLang="en-US"/>
              <a:t>应用的核心部分，其中包括输入、</a:t>
            </a:r>
            <a:r>
              <a:rPr lang="en-US" altLang="zh-CN"/>
              <a:t>Model</a:t>
            </a:r>
            <a:r>
              <a:rPr lang="zh-CN" altLang="en-US"/>
              <a:t>和输出。</a:t>
            </a:r>
            <a:endParaRPr lang="zh-CN" altLang="en-US"/>
          </a:p>
          <a:p>
            <a:r>
              <a:rPr lang="en-US" altLang="zh-CN"/>
              <a:t>- **Retrieval**</a:t>
            </a:r>
            <a:r>
              <a:rPr lang="zh-CN" altLang="en-US"/>
              <a:t>：</a:t>
            </a:r>
            <a:r>
              <a:rPr lang="en-US" altLang="zh-CN"/>
              <a:t>“</a:t>
            </a:r>
            <a:r>
              <a:rPr lang="zh-CN" altLang="en-US"/>
              <a:t>检索</a:t>
            </a:r>
            <a:r>
              <a:rPr lang="en-US" altLang="zh-CN"/>
              <a:t>“——</a:t>
            </a:r>
            <a:r>
              <a:rPr lang="zh-CN" altLang="en-US"/>
              <a:t>该功能与向量数据密切库相关，是在向量数据库中搜索与问题相关的文档内容。</a:t>
            </a:r>
            <a:endParaRPr lang="zh-CN" altLang="en-US"/>
          </a:p>
          <a:p>
            <a:r>
              <a:rPr lang="en-US" altLang="zh-CN"/>
              <a:t>- **Memory**</a:t>
            </a:r>
            <a:r>
              <a:rPr lang="zh-CN" altLang="en-US"/>
              <a:t>：为对话形式的模型存储历史对话记录，在长对话过程中随时将这些历史对话记录重新加载，以保证对话的准确度。</a:t>
            </a:r>
            <a:endParaRPr lang="zh-CN" altLang="en-US"/>
          </a:p>
          <a:p>
            <a:r>
              <a:rPr lang="en-US" altLang="zh-CN"/>
              <a:t>- **Chains**</a:t>
            </a:r>
            <a:r>
              <a:rPr lang="zh-CN" altLang="en-US"/>
              <a:t>：虽然通过</a:t>
            </a:r>
            <a:r>
              <a:rPr lang="en-US" altLang="zh-CN"/>
              <a:t>Model IO</a:t>
            </a:r>
            <a:r>
              <a:rPr lang="zh-CN" altLang="en-US"/>
              <a:t>、</a:t>
            </a:r>
            <a:r>
              <a:rPr lang="en-US" altLang="zh-CN"/>
              <a:t>Retrieval</a:t>
            </a:r>
            <a:r>
              <a:rPr lang="zh-CN" altLang="en-US"/>
              <a:t>和</a:t>
            </a:r>
            <a:r>
              <a:rPr lang="en-US" altLang="zh-CN"/>
              <a:t>Memory</a:t>
            </a:r>
            <a:r>
              <a:rPr lang="zh-CN" altLang="en-US"/>
              <a:t>这三大模块可以初步完成应用搭建，但是若想实现一个强大且复杂的应用，还是需要将各模块组合起来，这时就可以利用</a:t>
            </a:r>
            <a:r>
              <a:rPr lang="en-US" altLang="zh-CN"/>
              <a:t>Chains</a:t>
            </a:r>
            <a:r>
              <a:rPr lang="zh-CN" altLang="en-US"/>
              <a:t>将其连接起来，从而丰富功能。</a:t>
            </a:r>
            <a:endParaRPr lang="zh-CN" altLang="en-US"/>
          </a:p>
          <a:p>
            <a:r>
              <a:rPr lang="en-US" altLang="zh-CN"/>
              <a:t>- **Agents**</a:t>
            </a:r>
            <a:r>
              <a:rPr lang="zh-CN" altLang="en-US"/>
              <a:t>：它可以通过用户的输入，理解用户的意图，返回一个特定的动作类型和参数，从而自主调用相关的工具来满足用户的需求，将应用更加智能化。</a:t>
            </a:r>
            <a:endParaRPr lang="zh-CN" altLang="en-US"/>
          </a:p>
          <a:p>
            <a:r>
              <a:rPr lang="en-US" altLang="zh-CN"/>
              <a:t>- **Callbacks**: </a:t>
            </a:r>
            <a:r>
              <a:rPr lang="zh-CN" altLang="en-US"/>
              <a:t>回调机制可以调用链路追踪，记录日志，帮助开发者更好的调试</a:t>
            </a:r>
            <a:r>
              <a:rPr lang="en-US" altLang="zh-CN"/>
              <a:t>LLM</a:t>
            </a:r>
            <a:r>
              <a:rPr lang="zh-CN" altLang="en-US"/>
              <a:t>模型。</a:t>
            </a:r>
            <a:endParaRPr lang="zh-CN" altLang="en-US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0DA2A2-8270-4ED5-BF5C-C8E0B3242F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LangChain</a:t>
            </a:r>
            <a:r>
              <a:rPr lang="zh-CN" altLang="en-US"/>
              <a:t>由</a:t>
            </a:r>
            <a:r>
              <a:rPr lang="en-US" altLang="zh-CN"/>
              <a:t>6</a:t>
            </a:r>
            <a:r>
              <a:rPr lang="zh-CN" altLang="en-US"/>
              <a:t>个</a:t>
            </a:r>
            <a:r>
              <a:rPr lang="en-US" altLang="zh-CN"/>
              <a:t>module</a:t>
            </a:r>
            <a:r>
              <a:rPr lang="zh-CN" altLang="en-US"/>
              <a:t>组成，分别是</a:t>
            </a:r>
            <a:r>
              <a:rPr lang="en-US" altLang="zh-CN"/>
              <a:t>Model IO</a:t>
            </a:r>
            <a:r>
              <a:rPr lang="zh-CN" altLang="en-US"/>
              <a:t>、</a:t>
            </a:r>
            <a:r>
              <a:rPr lang="en-US" altLang="zh-CN"/>
              <a:t>Retrieval</a:t>
            </a:r>
            <a:r>
              <a:rPr lang="zh-CN" altLang="en-US"/>
              <a:t>、</a:t>
            </a:r>
            <a:r>
              <a:rPr lang="en-US" altLang="zh-CN"/>
              <a:t>Chains</a:t>
            </a:r>
            <a:r>
              <a:rPr lang="zh-CN" altLang="en-US"/>
              <a:t>、</a:t>
            </a:r>
            <a:r>
              <a:rPr lang="en-US" altLang="zh-CN"/>
              <a:t>Memory</a:t>
            </a:r>
            <a:r>
              <a:rPr lang="zh-CN" altLang="en-US"/>
              <a:t>、</a:t>
            </a:r>
            <a:r>
              <a:rPr lang="en-US" altLang="zh-CN"/>
              <a:t>Agents</a:t>
            </a:r>
            <a:r>
              <a:rPr lang="zh-CN" altLang="en-US"/>
              <a:t>和</a:t>
            </a:r>
            <a:r>
              <a:rPr lang="en-US" altLang="zh-CN"/>
              <a:t>Callbacks</a:t>
            </a:r>
            <a:r>
              <a:rPr lang="zh-CN" altLang="en-US"/>
              <a:t>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- **Model I/O**</a:t>
            </a:r>
            <a:r>
              <a:rPr lang="zh-CN" altLang="en-US"/>
              <a:t>：</a:t>
            </a:r>
            <a:r>
              <a:rPr lang="en-US" altLang="zh-CN"/>
              <a:t>AI</a:t>
            </a:r>
            <a:r>
              <a:rPr lang="zh-CN" altLang="en-US"/>
              <a:t>应用的核心部分，其中包括输入、</a:t>
            </a:r>
            <a:r>
              <a:rPr lang="en-US" altLang="zh-CN"/>
              <a:t>Model</a:t>
            </a:r>
            <a:r>
              <a:rPr lang="zh-CN" altLang="en-US"/>
              <a:t>和输出。</a:t>
            </a:r>
            <a:endParaRPr lang="zh-CN" altLang="en-US"/>
          </a:p>
          <a:p>
            <a:r>
              <a:rPr lang="en-US" altLang="zh-CN"/>
              <a:t>- **Retrieval**</a:t>
            </a:r>
            <a:r>
              <a:rPr lang="zh-CN" altLang="en-US"/>
              <a:t>：</a:t>
            </a:r>
            <a:r>
              <a:rPr lang="en-US" altLang="zh-CN"/>
              <a:t>“</a:t>
            </a:r>
            <a:r>
              <a:rPr lang="zh-CN" altLang="en-US"/>
              <a:t>检索</a:t>
            </a:r>
            <a:r>
              <a:rPr lang="en-US" altLang="zh-CN"/>
              <a:t>“——</a:t>
            </a:r>
            <a:r>
              <a:rPr lang="zh-CN" altLang="en-US"/>
              <a:t>该功能与向量数据密切库相关，是在向量数据库中搜索与问题相关的文档内容。</a:t>
            </a:r>
            <a:endParaRPr lang="zh-CN" altLang="en-US"/>
          </a:p>
          <a:p>
            <a:r>
              <a:rPr lang="en-US" altLang="zh-CN"/>
              <a:t>- **Memory**</a:t>
            </a:r>
            <a:r>
              <a:rPr lang="zh-CN" altLang="en-US"/>
              <a:t>：为对话形式的模型存储历史对话记录，在长对话过程中随时将这些历史对话记录重新加载，以保证对话的准确度。</a:t>
            </a:r>
            <a:endParaRPr lang="zh-CN" altLang="en-US"/>
          </a:p>
          <a:p>
            <a:r>
              <a:rPr lang="en-US" altLang="zh-CN"/>
              <a:t>- **Chains**</a:t>
            </a:r>
            <a:r>
              <a:rPr lang="zh-CN" altLang="en-US"/>
              <a:t>：虽然通过</a:t>
            </a:r>
            <a:r>
              <a:rPr lang="en-US" altLang="zh-CN"/>
              <a:t>Model IO</a:t>
            </a:r>
            <a:r>
              <a:rPr lang="zh-CN" altLang="en-US"/>
              <a:t>、</a:t>
            </a:r>
            <a:r>
              <a:rPr lang="en-US" altLang="zh-CN"/>
              <a:t>Retrieval</a:t>
            </a:r>
            <a:r>
              <a:rPr lang="zh-CN" altLang="en-US"/>
              <a:t>和</a:t>
            </a:r>
            <a:r>
              <a:rPr lang="en-US" altLang="zh-CN"/>
              <a:t>Memory</a:t>
            </a:r>
            <a:r>
              <a:rPr lang="zh-CN" altLang="en-US"/>
              <a:t>这三大模块可以初步完成应用搭建，但是若想实现一个强大且复杂的应用，还是需要将各模块组合起来，这时就可以利用</a:t>
            </a:r>
            <a:r>
              <a:rPr lang="en-US" altLang="zh-CN"/>
              <a:t>Chains</a:t>
            </a:r>
            <a:r>
              <a:rPr lang="zh-CN" altLang="en-US"/>
              <a:t>将其连接起来，从而丰富功能。</a:t>
            </a:r>
            <a:endParaRPr lang="zh-CN" altLang="en-US"/>
          </a:p>
          <a:p>
            <a:r>
              <a:rPr lang="en-US" altLang="zh-CN"/>
              <a:t>- **Agents**</a:t>
            </a:r>
            <a:r>
              <a:rPr lang="zh-CN" altLang="en-US"/>
              <a:t>：它可以通过用户的输入，理解用户的意图，返回一个特定的动作类型和参数，从而自主调用相关的工具来满足用户的需求，将应用更加智能化。</a:t>
            </a:r>
            <a:endParaRPr lang="zh-CN" altLang="en-US"/>
          </a:p>
          <a:p>
            <a:r>
              <a:rPr lang="en-US" altLang="zh-CN"/>
              <a:t>- **Callbacks**: </a:t>
            </a:r>
            <a:r>
              <a:rPr lang="zh-CN" altLang="en-US"/>
              <a:t>回调机制可以调用链路追踪，记录日志，帮助开发者更好的调试</a:t>
            </a:r>
            <a:r>
              <a:rPr lang="en-US" altLang="zh-CN"/>
              <a:t>LLM</a:t>
            </a:r>
            <a:r>
              <a:rPr lang="zh-CN" altLang="en-US"/>
              <a:t>模型。</a:t>
            </a:r>
            <a:endParaRPr lang="zh-CN" altLang="en-US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0DA2A2-8270-4ED5-BF5C-C8E0B3242F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LangChain</a:t>
            </a:r>
            <a:r>
              <a:rPr lang="zh-CN" altLang="en-US"/>
              <a:t>由</a:t>
            </a:r>
            <a:r>
              <a:rPr lang="en-US" altLang="zh-CN"/>
              <a:t>6</a:t>
            </a:r>
            <a:r>
              <a:rPr lang="zh-CN" altLang="en-US"/>
              <a:t>个</a:t>
            </a:r>
            <a:r>
              <a:rPr lang="en-US" altLang="zh-CN"/>
              <a:t>module</a:t>
            </a:r>
            <a:r>
              <a:rPr lang="zh-CN" altLang="en-US"/>
              <a:t>组成，分别是</a:t>
            </a:r>
            <a:r>
              <a:rPr lang="en-US" altLang="zh-CN"/>
              <a:t>Model IO</a:t>
            </a:r>
            <a:r>
              <a:rPr lang="zh-CN" altLang="en-US"/>
              <a:t>、</a:t>
            </a:r>
            <a:r>
              <a:rPr lang="en-US" altLang="zh-CN"/>
              <a:t>Retrieval</a:t>
            </a:r>
            <a:r>
              <a:rPr lang="zh-CN" altLang="en-US"/>
              <a:t>、</a:t>
            </a:r>
            <a:r>
              <a:rPr lang="en-US" altLang="zh-CN"/>
              <a:t>Chains</a:t>
            </a:r>
            <a:r>
              <a:rPr lang="zh-CN" altLang="en-US"/>
              <a:t>、</a:t>
            </a:r>
            <a:r>
              <a:rPr lang="en-US" altLang="zh-CN"/>
              <a:t>Memory</a:t>
            </a:r>
            <a:r>
              <a:rPr lang="zh-CN" altLang="en-US"/>
              <a:t>、</a:t>
            </a:r>
            <a:r>
              <a:rPr lang="en-US" altLang="zh-CN"/>
              <a:t>Agents</a:t>
            </a:r>
            <a:r>
              <a:rPr lang="zh-CN" altLang="en-US"/>
              <a:t>和</a:t>
            </a:r>
            <a:r>
              <a:rPr lang="en-US" altLang="zh-CN"/>
              <a:t>Callbacks</a:t>
            </a:r>
            <a:r>
              <a:rPr lang="zh-CN" altLang="en-US"/>
              <a:t>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- **Model I/O**</a:t>
            </a:r>
            <a:r>
              <a:rPr lang="zh-CN" altLang="en-US"/>
              <a:t>：</a:t>
            </a:r>
            <a:r>
              <a:rPr lang="en-US" altLang="zh-CN"/>
              <a:t>AI</a:t>
            </a:r>
            <a:r>
              <a:rPr lang="zh-CN" altLang="en-US"/>
              <a:t>应用的核心部分，其中包括输入、</a:t>
            </a:r>
            <a:r>
              <a:rPr lang="en-US" altLang="zh-CN"/>
              <a:t>Model</a:t>
            </a:r>
            <a:r>
              <a:rPr lang="zh-CN" altLang="en-US"/>
              <a:t>和输出。</a:t>
            </a:r>
            <a:endParaRPr lang="zh-CN" altLang="en-US"/>
          </a:p>
          <a:p>
            <a:r>
              <a:rPr lang="en-US" altLang="zh-CN"/>
              <a:t>- **Retrieval**</a:t>
            </a:r>
            <a:r>
              <a:rPr lang="zh-CN" altLang="en-US"/>
              <a:t>：</a:t>
            </a:r>
            <a:r>
              <a:rPr lang="en-US" altLang="zh-CN"/>
              <a:t>“</a:t>
            </a:r>
            <a:r>
              <a:rPr lang="zh-CN" altLang="en-US"/>
              <a:t>检索</a:t>
            </a:r>
            <a:r>
              <a:rPr lang="en-US" altLang="zh-CN"/>
              <a:t>“——</a:t>
            </a:r>
            <a:r>
              <a:rPr lang="zh-CN" altLang="en-US"/>
              <a:t>该功能与向量数据密切库相关，是在向量数据库中搜索与问题相关的文档内容。</a:t>
            </a:r>
            <a:endParaRPr lang="zh-CN" altLang="en-US"/>
          </a:p>
          <a:p>
            <a:r>
              <a:rPr lang="en-US" altLang="zh-CN"/>
              <a:t>- **Memory**</a:t>
            </a:r>
            <a:r>
              <a:rPr lang="zh-CN" altLang="en-US"/>
              <a:t>：为对话形式的模型存储历史对话记录，在长对话过程中随时将这些历史对话记录重新加载，以保证对话的准确度。</a:t>
            </a:r>
            <a:endParaRPr lang="zh-CN" altLang="en-US"/>
          </a:p>
          <a:p>
            <a:r>
              <a:rPr lang="en-US" altLang="zh-CN"/>
              <a:t>- **Chains**</a:t>
            </a:r>
            <a:r>
              <a:rPr lang="zh-CN" altLang="en-US"/>
              <a:t>：虽然通过</a:t>
            </a:r>
            <a:r>
              <a:rPr lang="en-US" altLang="zh-CN"/>
              <a:t>Model IO</a:t>
            </a:r>
            <a:r>
              <a:rPr lang="zh-CN" altLang="en-US"/>
              <a:t>、</a:t>
            </a:r>
            <a:r>
              <a:rPr lang="en-US" altLang="zh-CN"/>
              <a:t>Retrieval</a:t>
            </a:r>
            <a:r>
              <a:rPr lang="zh-CN" altLang="en-US"/>
              <a:t>和</a:t>
            </a:r>
            <a:r>
              <a:rPr lang="en-US" altLang="zh-CN"/>
              <a:t>Memory</a:t>
            </a:r>
            <a:r>
              <a:rPr lang="zh-CN" altLang="en-US"/>
              <a:t>这三大模块可以初步完成应用搭建，但是若想实现一个强大且复杂的应用，还是需要将各模块组合起来，这时就可以利用</a:t>
            </a:r>
            <a:r>
              <a:rPr lang="en-US" altLang="zh-CN"/>
              <a:t>Chains</a:t>
            </a:r>
            <a:r>
              <a:rPr lang="zh-CN" altLang="en-US"/>
              <a:t>将其连接起来，从而丰富功能。</a:t>
            </a:r>
            <a:endParaRPr lang="zh-CN" altLang="en-US"/>
          </a:p>
          <a:p>
            <a:r>
              <a:rPr lang="en-US" altLang="zh-CN"/>
              <a:t>- **Agents**</a:t>
            </a:r>
            <a:r>
              <a:rPr lang="zh-CN" altLang="en-US"/>
              <a:t>：它可以通过用户的输入，理解用户的意图，返回一个特定的动作类型和参数，从而自主调用相关的工具来满足用户的需求，将应用更加智能化。</a:t>
            </a:r>
            <a:endParaRPr lang="zh-CN" altLang="en-US"/>
          </a:p>
          <a:p>
            <a:r>
              <a:rPr lang="en-US" altLang="zh-CN"/>
              <a:t>- **Callbacks**: </a:t>
            </a:r>
            <a:r>
              <a:rPr lang="zh-CN" altLang="en-US"/>
              <a:t>回调机制可以调用链路追踪，记录日志，帮助开发者更好的调试</a:t>
            </a:r>
            <a:r>
              <a:rPr lang="en-US" altLang="zh-CN"/>
              <a:t>LLM</a:t>
            </a:r>
            <a:r>
              <a:rPr lang="zh-CN" altLang="en-US"/>
              <a:t>模型。</a:t>
            </a:r>
            <a:endParaRPr lang="zh-CN" altLang="en-US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0DA2A2-8270-4ED5-BF5C-C8E0B3242F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LangChain</a:t>
            </a:r>
            <a:r>
              <a:rPr lang="zh-CN" altLang="en-US"/>
              <a:t>由</a:t>
            </a:r>
            <a:r>
              <a:rPr lang="en-US" altLang="zh-CN"/>
              <a:t>6</a:t>
            </a:r>
            <a:r>
              <a:rPr lang="zh-CN" altLang="en-US"/>
              <a:t>个</a:t>
            </a:r>
            <a:r>
              <a:rPr lang="en-US" altLang="zh-CN"/>
              <a:t>module</a:t>
            </a:r>
            <a:r>
              <a:rPr lang="zh-CN" altLang="en-US"/>
              <a:t>组成，分别是</a:t>
            </a:r>
            <a:r>
              <a:rPr lang="en-US" altLang="zh-CN"/>
              <a:t>Model IO</a:t>
            </a:r>
            <a:r>
              <a:rPr lang="zh-CN" altLang="en-US"/>
              <a:t>、</a:t>
            </a:r>
            <a:r>
              <a:rPr lang="en-US" altLang="zh-CN"/>
              <a:t>Retrieval</a:t>
            </a:r>
            <a:r>
              <a:rPr lang="zh-CN" altLang="en-US"/>
              <a:t>、</a:t>
            </a:r>
            <a:r>
              <a:rPr lang="en-US" altLang="zh-CN"/>
              <a:t>Chains</a:t>
            </a:r>
            <a:r>
              <a:rPr lang="zh-CN" altLang="en-US"/>
              <a:t>、</a:t>
            </a:r>
            <a:r>
              <a:rPr lang="en-US" altLang="zh-CN"/>
              <a:t>Memory</a:t>
            </a:r>
            <a:r>
              <a:rPr lang="zh-CN" altLang="en-US"/>
              <a:t>、</a:t>
            </a:r>
            <a:r>
              <a:rPr lang="en-US" altLang="zh-CN"/>
              <a:t>Agents</a:t>
            </a:r>
            <a:r>
              <a:rPr lang="zh-CN" altLang="en-US"/>
              <a:t>和</a:t>
            </a:r>
            <a:r>
              <a:rPr lang="en-US" altLang="zh-CN"/>
              <a:t>Callbacks</a:t>
            </a:r>
            <a:r>
              <a:rPr lang="zh-CN" altLang="en-US"/>
              <a:t>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- **Model I/O**</a:t>
            </a:r>
            <a:r>
              <a:rPr lang="zh-CN" altLang="en-US"/>
              <a:t>：</a:t>
            </a:r>
            <a:r>
              <a:rPr lang="en-US" altLang="zh-CN"/>
              <a:t>AI</a:t>
            </a:r>
            <a:r>
              <a:rPr lang="zh-CN" altLang="en-US"/>
              <a:t>应用的核心部分，其中包括输入、</a:t>
            </a:r>
            <a:r>
              <a:rPr lang="en-US" altLang="zh-CN"/>
              <a:t>Model</a:t>
            </a:r>
            <a:r>
              <a:rPr lang="zh-CN" altLang="en-US"/>
              <a:t>和输出。</a:t>
            </a:r>
            <a:endParaRPr lang="zh-CN" altLang="en-US"/>
          </a:p>
          <a:p>
            <a:r>
              <a:rPr lang="en-US" altLang="zh-CN"/>
              <a:t>- **Retrieval**</a:t>
            </a:r>
            <a:r>
              <a:rPr lang="zh-CN" altLang="en-US"/>
              <a:t>：</a:t>
            </a:r>
            <a:r>
              <a:rPr lang="en-US" altLang="zh-CN"/>
              <a:t>“</a:t>
            </a:r>
            <a:r>
              <a:rPr lang="zh-CN" altLang="en-US"/>
              <a:t>检索</a:t>
            </a:r>
            <a:r>
              <a:rPr lang="en-US" altLang="zh-CN"/>
              <a:t>“——</a:t>
            </a:r>
            <a:r>
              <a:rPr lang="zh-CN" altLang="en-US"/>
              <a:t>该功能与向量数据密切库相关，是在向量数据库中搜索与问题相关的文档内容。</a:t>
            </a:r>
            <a:endParaRPr lang="zh-CN" altLang="en-US"/>
          </a:p>
          <a:p>
            <a:r>
              <a:rPr lang="en-US" altLang="zh-CN"/>
              <a:t>- **Memory**</a:t>
            </a:r>
            <a:r>
              <a:rPr lang="zh-CN" altLang="en-US"/>
              <a:t>：为对话形式的模型存储历史对话记录，在长对话过程中随时将这些历史对话记录重新加载，以保证对话的准确度。</a:t>
            </a:r>
            <a:endParaRPr lang="zh-CN" altLang="en-US"/>
          </a:p>
          <a:p>
            <a:r>
              <a:rPr lang="en-US" altLang="zh-CN"/>
              <a:t>- **Chains**</a:t>
            </a:r>
            <a:r>
              <a:rPr lang="zh-CN" altLang="en-US"/>
              <a:t>：虽然通过</a:t>
            </a:r>
            <a:r>
              <a:rPr lang="en-US" altLang="zh-CN"/>
              <a:t>Model IO</a:t>
            </a:r>
            <a:r>
              <a:rPr lang="zh-CN" altLang="en-US"/>
              <a:t>、</a:t>
            </a:r>
            <a:r>
              <a:rPr lang="en-US" altLang="zh-CN"/>
              <a:t>Retrieval</a:t>
            </a:r>
            <a:r>
              <a:rPr lang="zh-CN" altLang="en-US"/>
              <a:t>和</a:t>
            </a:r>
            <a:r>
              <a:rPr lang="en-US" altLang="zh-CN"/>
              <a:t>Memory</a:t>
            </a:r>
            <a:r>
              <a:rPr lang="zh-CN" altLang="en-US"/>
              <a:t>这三大模块可以初步完成应用搭建，但是若想实现一个强大且复杂的应用，还是需要将各模块组合起来，这时就可以利用</a:t>
            </a:r>
            <a:r>
              <a:rPr lang="en-US" altLang="zh-CN"/>
              <a:t>Chains</a:t>
            </a:r>
            <a:r>
              <a:rPr lang="zh-CN" altLang="en-US"/>
              <a:t>将其连接起来，从而丰富功能。</a:t>
            </a:r>
            <a:endParaRPr lang="zh-CN" altLang="en-US"/>
          </a:p>
          <a:p>
            <a:r>
              <a:rPr lang="en-US" altLang="zh-CN"/>
              <a:t>- **Agents**</a:t>
            </a:r>
            <a:r>
              <a:rPr lang="zh-CN" altLang="en-US"/>
              <a:t>：它可以通过用户的输入，理解用户的意图，返回一个特定的动作类型和参数，从而自主调用相关的工具来满足用户的需求，将应用更加智能化。</a:t>
            </a:r>
            <a:endParaRPr lang="zh-CN" altLang="en-US"/>
          </a:p>
          <a:p>
            <a:r>
              <a:rPr lang="en-US" altLang="zh-CN"/>
              <a:t>- **Callbacks**: </a:t>
            </a:r>
            <a:r>
              <a:rPr lang="zh-CN" altLang="en-US"/>
              <a:t>回调机制可以调用链路追踪，记录日志，帮助开发者更好的调试</a:t>
            </a:r>
            <a:r>
              <a:rPr lang="en-US" altLang="zh-CN"/>
              <a:t>LLM</a:t>
            </a:r>
            <a:r>
              <a:rPr lang="zh-CN" altLang="en-US"/>
              <a:t>模型。</a:t>
            </a:r>
            <a:endParaRPr lang="zh-CN" altLang="en-US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0DA2A2-8270-4ED5-BF5C-C8E0B3242F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0DA2A2-8270-4ED5-BF5C-C8E0B3242F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DE5AE-854A-4B80-820C-1ACCD978BA3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4F22C-E4EF-4ECA-B9AE-8B396F99A3F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DE5AE-854A-4B80-820C-1ACCD978BA3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4F22C-E4EF-4ECA-B9AE-8B396F99A3F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DE5AE-854A-4B80-820C-1ACCD978BA3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4F22C-E4EF-4ECA-B9AE-8B396F99A3F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DE5AE-854A-4B80-820C-1ACCD978BA3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4F22C-E4EF-4ECA-B9AE-8B396F99A3F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DE5AE-854A-4B80-820C-1ACCD978BA3B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4F22C-E4EF-4ECA-B9AE-8B396F99A3F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DE5AE-854A-4B80-820C-1ACCD978BA3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4F22C-E4EF-4ECA-B9AE-8B396F99A3F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DE5AE-854A-4B80-820C-1ACCD978BA3B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4F22C-E4EF-4ECA-B9AE-8B396F99A3F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DE5AE-854A-4B80-820C-1ACCD978BA3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4F22C-E4EF-4ECA-B9AE-8B396F99A3F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DE5AE-854A-4B80-820C-1ACCD978BA3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4F22C-E4EF-4ECA-B9AE-8B396F99A3F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DE5AE-854A-4B80-820C-1ACCD978BA3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4F22C-E4EF-4ECA-B9AE-8B396F99A3F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DE5AE-854A-4B80-820C-1ACCD978BA3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4F22C-E4EF-4ECA-B9AE-8B396F99A3F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0DE5AE-854A-4B80-820C-1ACCD978BA3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44F22C-E4EF-4ECA-B9AE-8B396F99A3F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0" Type="http://schemas.openxmlformats.org/officeDocument/2006/relationships/notesSlide" Target="../notesSlides/notesSlide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6.svg"/><Relationship Id="rId7" Type="http://schemas.openxmlformats.org/officeDocument/2006/relationships/image" Target="../media/image15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0" Type="http://schemas.openxmlformats.org/officeDocument/2006/relationships/notesSlide" Target="../notesSlides/notesSlide2.xml"/><Relationship Id="rId1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1.png"/><Relationship Id="rId2" Type="http://schemas.openxmlformats.org/officeDocument/2006/relationships/image" Target="../media/image18.svg"/><Relationship Id="rId1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2.png"/><Relationship Id="rId2" Type="http://schemas.openxmlformats.org/officeDocument/2006/relationships/image" Target="../media/image18.svg"/><Relationship Id="rId1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18.svg"/><Relationship Id="rId1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6.png"/><Relationship Id="rId2" Type="http://schemas.openxmlformats.org/officeDocument/2006/relationships/image" Target="../media/image18.svg"/><Relationship Id="rId1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7.png"/><Relationship Id="rId2" Type="http://schemas.openxmlformats.org/officeDocument/2006/relationships/image" Target="../media/image18.svg"/><Relationship Id="rId1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8.webp"/><Relationship Id="rId2" Type="http://schemas.openxmlformats.org/officeDocument/2006/relationships/image" Target="../media/image18.svg"/><Relationship Id="rId1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9.png"/><Relationship Id="rId2" Type="http://schemas.openxmlformats.org/officeDocument/2006/relationships/image" Target="../media/image18.svg"/><Relationship Id="rId1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0.png"/><Relationship Id="rId2" Type="http://schemas.openxmlformats.org/officeDocument/2006/relationships/image" Target="../media/image18.svg"/><Relationship Id="rId1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1.png"/><Relationship Id="rId2" Type="http://schemas.openxmlformats.org/officeDocument/2006/relationships/image" Target="../media/image18.svg"/><Relationship Id="rId1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3.png"/><Relationship Id="rId3" Type="http://schemas.openxmlformats.org/officeDocument/2006/relationships/image" Target="../media/image32.png"/><Relationship Id="rId2" Type="http://schemas.openxmlformats.org/officeDocument/2006/relationships/image" Target="../media/image18.svg"/><Relationship Id="rId1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8.svg"/><Relationship Id="rId1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4.png"/><Relationship Id="rId2" Type="http://schemas.openxmlformats.org/officeDocument/2006/relationships/image" Target="../media/image18.svg"/><Relationship Id="rId1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0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35.png"/><Relationship Id="rId4" Type="http://schemas.openxmlformats.org/officeDocument/2006/relationships/hyperlink" Target="https://www.modelscope.cn/mcp" TargetMode="External"/><Relationship Id="rId3" Type="http://schemas.openxmlformats.org/officeDocument/2006/relationships/hyperlink" Target="https://mcp.so/" TargetMode="External"/><Relationship Id="rId2" Type="http://schemas.openxmlformats.org/officeDocument/2006/relationships/image" Target="../media/image18.svg"/><Relationship Id="rId1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6.png"/><Relationship Id="rId2" Type="http://schemas.openxmlformats.org/officeDocument/2006/relationships/image" Target="../media/image18.svg"/><Relationship Id="rId1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7.png"/><Relationship Id="rId2" Type="http://schemas.openxmlformats.org/officeDocument/2006/relationships/image" Target="../media/image18.svg"/><Relationship Id="rId1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8.png"/><Relationship Id="rId2" Type="http://schemas.openxmlformats.org/officeDocument/2006/relationships/image" Target="../media/image18.svg"/><Relationship Id="rId1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5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9.png"/><Relationship Id="rId2" Type="http://schemas.openxmlformats.org/officeDocument/2006/relationships/image" Target="../media/image18.svg"/><Relationship Id="rId1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6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0.png"/><Relationship Id="rId2" Type="http://schemas.openxmlformats.org/officeDocument/2006/relationships/image" Target="../media/image18.svg"/><Relationship Id="rId1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7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1.png"/><Relationship Id="rId2" Type="http://schemas.openxmlformats.org/officeDocument/2006/relationships/image" Target="../media/image18.svg"/><Relationship Id="rId1" Type="http://schemas.openxmlformats.org/officeDocument/2006/relationships/image" Target="../media/image20.png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8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46.jpeg"/><Relationship Id="rId6" Type="http://schemas.openxmlformats.org/officeDocument/2006/relationships/image" Target="../media/image6.svg"/><Relationship Id="rId5" Type="http://schemas.openxmlformats.org/officeDocument/2006/relationships/image" Target="../media/image45.png"/><Relationship Id="rId4" Type="http://schemas.openxmlformats.org/officeDocument/2006/relationships/image" Target="../media/image44.svg"/><Relationship Id="rId3" Type="http://schemas.openxmlformats.org/officeDocument/2006/relationships/image" Target="../media/image43.png"/><Relationship Id="rId2" Type="http://schemas.openxmlformats.org/officeDocument/2006/relationships/image" Target="../media/image8.svg"/><Relationship Id="rId1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形 23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02218" y="2130856"/>
            <a:ext cx="623999" cy="518142"/>
          </a:xfrm>
          <a:prstGeom prst="rect">
            <a:avLst/>
          </a:prstGeom>
          <a:effectLst>
            <a:glow rad="12700">
              <a:schemeClr val="bg1">
                <a:alpha val="41000"/>
              </a:schemeClr>
            </a:glow>
          </a:effectLst>
        </p:spPr>
      </p:pic>
      <p:pic>
        <p:nvPicPr>
          <p:cNvPr id="23" name="图形 22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54966" y="4615171"/>
            <a:ext cx="623999" cy="518142"/>
          </a:xfrm>
          <a:prstGeom prst="rect">
            <a:avLst/>
          </a:prstGeom>
          <a:effectLst>
            <a:glow rad="12700">
              <a:schemeClr val="bg1">
                <a:alpha val="41000"/>
              </a:schemeClr>
            </a:glow>
          </a:effectLst>
        </p:spPr>
      </p:pic>
      <p:sp>
        <p:nvSpPr>
          <p:cNvPr id="20" name="矩形 19"/>
          <p:cNvSpPr/>
          <p:nvPr/>
        </p:nvSpPr>
        <p:spPr>
          <a:xfrm>
            <a:off x="-45085" y="2379345"/>
            <a:ext cx="12236450" cy="2413000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853055" y="2814320"/>
            <a:ext cx="8841105" cy="8648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技术分享</a:t>
            </a: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——Langchain &amp; </a:t>
            </a: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MCP</a:t>
            </a:r>
            <a:endParaRPr kumimoji="0" lang="en-US" altLang="zh-CN" sz="4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4" name="图形 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9792" y="3009722"/>
            <a:ext cx="1387140" cy="1151822"/>
          </a:xfrm>
          <a:prstGeom prst="rect">
            <a:avLst/>
          </a:prstGeom>
          <a:effectLst>
            <a:glow rad="12700">
              <a:schemeClr val="bg1">
                <a:alpha val="41000"/>
              </a:schemeClr>
            </a:glow>
          </a:effectLst>
        </p:spPr>
      </p:pic>
      <p:pic>
        <p:nvPicPr>
          <p:cNvPr id="5" name="图形 4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85400" y="293382"/>
            <a:ext cx="1508654" cy="529352"/>
          </a:xfrm>
          <a:prstGeom prst="rect">
            <a:avLst/>
          </a:prstGeom>
        </p:spPr>
      </p:pic>
      <p:grpSp>
        <p:nvGrpSpPr>
          <p:cNvPr id="94" name="组合 93"/>
          <p:cNvGrpSpPr/>
          <p:nvPr/>
        </p:nvGrpSpPr>
        <p:grpSpPr>
          <a:xfrm>
            <a:off x="2906893" y="3848049"/>
            <a:ext cx="2204454" cy="499568"/>
            <a:chOff x="697830" y="4447520"/>
            <a:chExt cx="4342067" cy="499568"/>
          </a:xfrm>
        </p:grpSpPr>
        <p:sp>
          <p:nvSpPr>
            <p:cNvPr id="18" name="矩形: 圆角 17"/>
            <p:cNvSpPr/>
            <p:nvPr/>
          </p:nvSpPr>
          <p:spPr>
            <a:xfrm>
              <a:off x="697830" y="4447520"/>
              <a:ext cx="4342067" cy="499568"/>
            </a:xfrm>
            <a:prstGeom prst="roundRect">
              <a:avLst>
                <a:gd name="adj" fmla="val 50000"/>
              </a:avLst>
            </a:prstGeom>
            <a:solidFill>
              <a:srgbClr val="141B76">
                <a:alpha val="74902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794082" y="4529629"/>
              <a:ext cx="4023005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汇报人：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章军豪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endParaRPr>
            </a:p>
          </p:txBody>
        </p:sp>
      </p:grpSp>
      <p:pic>
        <p:nvPicPr>
          <p:cNvPr id="15" name="图形 14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791858" y="1768270"/>
            <a:ext cx="623999" cy="518142"/>
          </a:xfrm>
          <a:prstGeom prst="rect">
            <a:avLst/>
          </a:prstGeom>
          <a:effectLst>
            <a:glow rad="12700">
              <a:schemeClr val="bg1">
                <a:alpha val="41000"/>
              </a:schemeClr>
            </a:glow>
          </a:effectLst>
        </p:spPr>
      </p:pic>
      <p:pic>
        <p:nvPicPr>
          <p:cNvPr id="16" name="图形 15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791857" y="5097825"/>
            <a:ext cx="623999" cy="518142"/>
          </a:xfrm>
          <a:prstGeom prst="rect">
            <a:avLst/>
          </a:prstGeom>
          <a:effectLst>
            <a:glow rad="12700">
              <a:schemeClr val="bg1">
                <a:alpha val="41000"/>
              </a:schemeClr>
            </a:glow>
          </a:effectLst>
        </p:spPr>
      </p:pic>
      <p:pic>
        <p:nvPicPr>
          <p:cNvPr id="21" name="图形 2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80642" y="1125928"/>
            <a:ext cx="623999" cy="518142"/>
          </a:xfrm>
          <a:prstGeom prst="rect">
            <a:avLst/>
          </a:prstGeom>
          <a:effectLst>
            <a:glow rad="12700">
              <a:schemeClr val="bg1">
                <a:alpha val="41000"/>
              </a:schemeClr>
            </a:glow>
          </a:effectLst>
        </p:spPr>
      </p:pic>
      <p:pic>
        <p:nvPicPr>
          <p:cNvPr id="22" name="图形 2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54966" y="5620170"/>
            <a:ext cx="623999" cy="518142"/>
          </a:xfrm>
          <a:prstGeom prst="rect">
            <a:avLst/>
          </a:prstGeom>
          <a:effectLst>
            <a:glow rad="12700">
              <a:schemeClr val="bg1">
                <a:alpha val="41000"/>
              </a:schemeClr>
            </a:glo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ldLvl="0" animBg="1"/>
      <p:bldP spid="1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椭圆 36"/>
          <p:cNvSpPr/>
          <p:nvPr/>
        </p:nvSpPr>
        <p:spPr>
          <a:xfrm>
            <a:off x="870552" y="2175118"/>
            <a:ext cx="1913392" cy="1913392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75000"/>
                  <a:alpha val="6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-4632" y="-1"/>
            <a:ext cx="12196631" cy="2127749"/>
            <a:chOff x="-4632" y="-1"/>
            <a:chExt cx="12196631" cy="2127749"/>
          </a:xfrm>
        </p:grpSpPr>
        <p:sp>
          <p:nvSpPr>
            <p:cNvPr id="11" name="任意多边形: 形状 10"/>
            <p:cNvSpPr/>
            <p:nvPr/>
          </p:nvSpPr>
          <p:spPr>
            <a:xfrm flipV="1">
              <a:off x="0" y="1684"/>
              <a:ext cx="12191999" cy="2126064"/>
            </a:xfrm>
            <a:custGeom>
              <a:avLst/>
              <a:gdLst>
                <a:gd name="connsiteX0" fmla="*/ 0 w 12191999"/>
                <a:gd name="connsiteY0" fmla="*/ 2126064 h 2126064"/>
                <a:gd name="connsiteX1" fmla="*/ 12191999 w 12191999"/>
                <a:gd name="connsiteY1" fmla="*/ 2126064 h 2126064"/>
                <a:gd name="connsiteX2" fmla="*/ 0 w 12191999"/>
                <a:gd name="connsiteY2" fmla="*/ 0 h 2126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191999" h="2126064">
                  <a:moveTo>
                    <a:pt x="0" y="2126064"/>
                  </a:moveTo>
                  <a:lnTo>
                    <a:pt x="12191999" y="21260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endParaRPr>
            </a:p>
          </p:txBody>
        </p:sp>
        <p:sp>
          <p:nvSpPr>
            <p:cNvPr id="20" name="任意多边形: 形状 19"/>
            <p:cNvSpPr/>
            <p:nvPr/>
          </p:nvSpPr>
          <p:spPr>
            <a:xfrm flipV="1">
              <a:off x="-4632" y="-1"/>
              <a:ext cx="845081" cy="695700"/>
            </a:xfrm>
            <a:custGeom>
              <a:avLst/>
              <a:gdLst>
                <a:gd name="connsiteX0" fmla="*/ 0 w 845081"/>
                <a:gd name="connsiteY0" fmla="*/ 695700 h 695700"/>
                <a:gd name="connsiteX1" fmla="*/ 845081 w 845081"/>
                <a:gd name="connsiteY1" fmla="*/ 695700 h 695700"/>
                <a:gd name="connsiteX2" fmla="*/ 0 w 845081"/>
                <a:gd name="connsiteY2" fmla="*/ 0 h 695700"/>
                <a:gd name="connsiteX3" fmla="*/ 0 w 845081"/>
                <a:gd name="connsiteY3" fmla="*/ 695700 h 695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5081" h="695700">
                  <a:moveTo>
                    <a:pt x="0" y="695700"/>
                  </a:moveTo>
                  <a:lnTo>
                    <a:pt x="845081" y="695700"/>
                  </a:lnTo>
                  <a:lnTo>
                    <a:pt x="0" y="0"/>
                  </a:lnTo>
                  <a:lnTo>
                    <a:pt x="0" y="695700"/>
                  </a:lnTo>
                  <a:close/>
                </a:path>
              </a:pathLst>
            </a:custGeom>
            <a:solidFill>
              <a:srgbClr val="003F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endParaRPr>
            </a:p>
          </p:txBody>
        </p:sp>
        <p:sp>
          <p:nvSpPr>
            <p:cNvPr id="19" name="任意多边形: 形状 18"/>
            <p:cNvSpPr/>
            <p:nvPr/>
          </p:nvSpPr>
          <p:spPr>
            <a:xfrm flipV="1">
              <a:off x="2569944" y="9621"/>
              <a:ext cx="7642459" cy="1665174"/>
            </a:xfrm>
            <a:custGeom>
              <a:avLst/>
              <a:gdLst>
                <a:gd name="connsiteX0" fmla="*/ 2049597 w 7784426"/>
                <a:gd name="connsiteY0" fmla="*/ 1687299 h 1687299"/>
                <a:gd name="connsiteX1" fmla="*/ 7784426 w 7784426"/>
                <a:gd name="connsiteY1" fmla="*/ 1687299 h 1687299"/>
                <a:gd name="connsiteX2" fmla="*/ 7276089 w 7784426"/>
                <a:gd name="connsiteY2" fmla="*/ 1268818 h 1687299"/>
                <a:gd name="connsiteX3" fmla="*/ 0 w 7784426"/>
                <a:gd name="connsiteY3" fmla="*/ 0 h 1687299"/>
                <a:gd name="connsiteX4" fmla="*/ 2049597 w 7784426"/>
                <a:gd name="connsiteY4" fmla="*/ 1687299 h 1687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4426" h="1687299">
                  <a:moveTo>
                    <a:pt x="2049597" y="1687299"/>
                  </a:moveTo>
                  <a:lnTo>
                    <a:pt x="7784426" y="1687299"/>
                  </a:lnTo>
                  <a:lnTo>
                    <a:pt x="7276089" y="1268818"/>
                  </a:lnTo>
                  <a:lnTo>
                    <a:pt x="0" y="0"/>
                  </a:lnTo>
                  <a:lnTo>
                    <a:pt x="2049597" y="1687299"/>
                  </a:lnTo>
                  <a:close/>
                </a:path>
              </a:pathLst>
            </a:custGeom>
            <a:solidFill>
              <a:srgbClr val="003F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3154566" y="4130877"/>
            <a:ext cx="5762554" cy="1730828"/>
            <a:chOff x="3102428" y="3755572"/>
            <a:chExt cx="5762554" cy="1730828"/>
          </a:xfrm>
        </p:grpSpPr>
        <p:cxnSp>
          <p:nvCxnSpPr>
            <p:cNvPr id="29" name="直接连接符 28"/>
            <p:cNvCxnSpPr/>
            <p:nvPr/>
          </p:nvCxnSpPr>
          <p:spPr>
            <a:xfrm>
              <a:off x="3102428" y="3755572"/>
              <a:ext cx="0" cy="1730828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>
              <a:off x="6019799" y="3755572"/>
              <a:ext cx="0" cy="1730828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>
              <a:off x="8864982" y="3755572"/>
              <a:ext cx="0" cy="1730828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组合 40"/>
          <p:cNvGrpSpPr/>
          <p:nvPr/>
        </p:nvGrpSpPr>
        <p:grpSpPr>
          <a:xfrm>
            <a:off x="3055559" y="4428336"/>
            <a:ext cx="3235048" cy="675582"/>
            <a:chOff x="209724" y="4394568"/>
            <a:chExt cx="3235048" cy="675582"/>
          </a:xfrm>
        </p:grpSpPr>
        <p:sp>
          <p:nvSpPr>
            <p:cNvPr id="42" name="文本框 41"/>
            <p:cNvSpPr txBox="1"/>
            <p:nvPr/>
          </p:nvSpPr>
          <p:spPr>
            <a:xfrm>
              <a:off x="606377" y="4394568"/>
              <a:ext cx="2385970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RAG</a:t>
              </a: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系统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209724" y="4699310"/>
              <a:ext cx="3235048" cy="3708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endParaRP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5948570" y="4428336"/>
            <a:ext cx="3235048" cy="675582"/>
            <a:chOff x="209724" y="4394568"/>
            <a:chExt cx="3235048" cy="675582"/>
          </a:xfrm>
        </p:grpSpPr>
        <p:sp>
          <p:nvSpPr>
            <p:cNvPr id="45" name="文本框 44"/>
            <p:cNvSpPr txBox="1"/>
            <p:nvPr/>
          </p:nvSpPr>
          <p:spPr>
            <a:xfrm>
              <a:off x="606377" y="4394568"/>
              <a:ext cx="2385970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MCP</a:t>
              </a: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扩展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209724" y="4699310"/>
              <a:ext cx="3235048" cy="3708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8785886" y="4428336"/>
            <a:ext cx="3235048" cy="675582"/>
            <a:chOff x="209724" y="4394568"/>
            <a:chExt cx="3235048" cy="675582"/>
          </a:xfrm>
        </p:grpSpPr>
        <p:sp>
          <p:nvSpPr>
            <p:cNvPr id="48" name="文本框 47"/>
            <p:cNvSpPr txBox="1"/>
            <p:nvPr/>
          </p:nvSpPr>
          <p:spPr>
            <a:xfrm>
              <a:off x="606377" y="4394568"/>
              <a:ext cx="2385970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运行</a:t>
              </a: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效果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209724" y="4699310"/>
              <a:ext cx="3235048" cy="3708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868837" y="2467476"/>
            <a:ext cx="1300163" cy="1300163"/>
            <a:chOff x="6868837" y="2467476"/>
            <a:chExt cx="1300163" cy="1300163"/>
          </a:xfrm>
        </p:grpSpPr>
        <p:sp>
          <p:nvSpPr>
            <p:cNvPr id="24" name="椭圆 23"/>
            <p:cNvSpPr/>
            <p:nvPr/>
          </p:nvSpPr>
          <p:spPr>
            <a:xfrm>
              <a:off x="6868837" y="2467476"/>
              <a:ext cx="1300163" cy="1300163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endParaRPr>
            </a:p>
          </p:txBody>
        </p:sp>
        <p:pic>
          <p:nvPicPr>
            <p:cNvPr id="50" name="图形 49"/>
            <p:cNvPicPr>
              <a:picLocks noChangeAspect="1"/>
            </p:cNvPicPr>
            <p:nvPr/>
          </p:nvPicPr>
          <p:blipFill>
            <a:blip r:embed="rId1" cstate="email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214643" y="2805011"/>
              <a:ext cx="550429" cy="634015"/>
            </a:xfrm>
            <a:prstGeom prst="rect">
              <a:avLst/>
            </a:prstGeom>
          </p:spPr>
        </p:pic>
      </p:grpSp>
      <p:grpSp>
        <p:nvGrpSpPr>
          <p:cNvPr id="5" name="组合 4"/>
          <p:cNvGrpSpPr/>
          <p:nvPr/>
        </p:nvGrpSpPr>
        <p:grpSpPr>
          <a:xfrm>
            <a:off x="4023002" y="2467476"/>
            <a:ext cx="1300163" cy="1300163"/>
            <a:chOff x="4023002" y="2467476"/>
            <a:chExt cx="1300163" cy="1300163"/>
          </a:xfrm>
        </p:grpSpPr>
        <p:sp>
          <p:nvSpPr>
            <p:cNvPr id="23" name="椭圆 22"/>
            <p:cNvSpPr/>
            <p:nvPr/>
          </p:nvSpPr>
          <p:spPr>
            <a:xfrm>
              <a:off x="4023002" y="2467476"/>
              <a:ext cx="1300163" cy="1300163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endParaRPr>
            </a:p>
          </p:txBody>
        </p:sp>
        <p:pic>
          <p:nvPicPr>
            <p:cNvPr id="51" name="图形 50"/>
            <p:cNvPicPr>
              <a:picLocks noChangeAspect="1"/>
            </p:cNvPicPr>
            <p:nvPr/>
          </p:nvPicPr>
          <p:blipFill>
            <a:blip r:embed="rId3" cstate="email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326109" y="2824061"/>
              <a:ext cx="638175" cy="638175"/>
            </a:xfrm>
            <a:prstGeom prst="rect">
              <a:avLst/>
            </a:prstGeom>
          </p:spPr>
        </p:pic>
      </p:grpSp>
      <p:grpSp>
        <p:nvGrpSpPr>
          <p:cNvPr id="2" name="组合 1"/>
          <p:cNvGrpSpPr/>
          <p:nvPr/>
        </p:nvGrpSpPr>
        <p:grpSpPr>
          <a:xfrm>
            <a:off x="1177167" y="2481733"/>
            <a:ext cx="1300163" cy="1300163"/>
            <a:chOff x="1177167" y="2337355"/>
            <a:chExt cx="1300163" cy="1300163"/>
          </a:xfrm>
        </p:grpSpPr>
        <p:sp>
          <p:nvSpPr>
            <p:cNvPr id="22" name="椭圆 21"/>
            <p:cNvSpPr/>
            <p:nvPr/>
          </p:nvSpPr>
          <p:spPr>
            <a:xfrm>
              <a:off x="1177167" y="2337355"/>
              <a:ext cx="1300163" cy="1300163"/>
            </a:xfrm>
            <a:prstGeom prst="ellipse">
              <a:avLst/>
            </a:prstGeom>
            <a:solidFill>
              <a:srgbClr val="003F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endParaRPr>
            </a:p>
          </p:txBody>
        </p:sp>
        <p:pic>
          <p:nvPicPr>
            <p:cNvPr id="52" name="图形 51"/>
            <p:cNvPicPr>
              <a:picLocks noChangeAspect="1"/>
            </p:cNvPicPr>
            <p:nvPr/>
          </p:nvPicPr>
          <p:blipFill>
            <a:blip r:embed="rId5" cstate="email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482804" y="2708834"/>
              <a:ext cx="633116" cy="634015"/>
            </a:xfrm>
            <a:prstGeom prst="rect">
              <a:avLst/>
            </a:prstGeom>
          </p:spPr>
        </p:pic>
      </p:grpSp>
      <p:grpSp>
        <p:nvGrpSpPr>
          <p:cNvPr id="7" name="组合 6"/>
          <p:cNvGrpSpPr/>
          <p:nvPr/>
        </p:nvGrpSpPr>
        <p:grpSpPr>
          <a:xfrm>
            <a:off x="9714671" y="2467476"/>
            <a:ext cx="1300163" cy="1300163"/>
            <a:chOff x="9714671" y="2467476"/>
            <a:chExt cx="1300163" cy="1300163"/>
          </a:xfrm>
        </p:grpSpPr>
        <p:sp>
          <p:nvSpPr>
            <p:cNvPr id="25" name="椭圆 24"/>
            <p:cNvSpPr/>
            <p:nvPr/>
          </p:nvSpPr>
          <p:spPr>
            <a:xfrm>
              <a:off x="9714671" y="2467476"/>
              <a:ext cx="1300163" cy="1300163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endParaRPr>
            </a:p>
          </p:txBody>
        </p:sp>
        <p:pic>
          <p:nvPicPr>
            <p:cNvPr id="53" name="图形 52"/>
            <p:cNvPicPr>
              <a:picLocks noChangeAspect="1"/>
            </p:cNvPicPr>
            <p:nvPr/>
          </p:nvPicPr>
          <p:blipFill>
            <a:blip r:embed="rId3" cstate="email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042056" y="2824061"/>
              <a:ext cx="638175" cy="638175"/>
            </a:xfrm>
            <a:prstGeom prst="rect">
              <a:avLst/>
            </a:prstGeom>
          </p:spPr>
        </p:pic>
      </p:grpSp>
      <p:grpSp>
        <p:nvGrpSpPr>
          <p:cNvPr id="4" name="组合 3"/>
          <p:cNvGrpSpPr/>
          <p:nvPr/>
        </p:nvGrpSpPr>
        <p:grpSpPr>
          <a:xfrm>
            <a:off x="7796463" y="964934"/>
            <a:ext cx="4049551" cy="873366"/>
            <a:chOff x="7796463" y="964934"/>
            <a:chExt cx="4049551" cy="873366"/>
          </a:xfrm>
        </p:grpSpPr>
        <p:sp>
          <p:nvSpPr>
            <p:cNvPr id="33" name="文本框 32"/>
            <p:cNvSpPr txBox="1"/>
            <p:nvPr/>
          </p:nvSpPr>
          <p:spPr>
            <a:xfrm>
              <a:off x="8212132" y="964934"/>
              <a:ext cx="363388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F87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CONTENTS</a:t>
              </a:r>
              <a:endPara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cxnSp>
          <p:nvCxnSpPr>
            <p:cNvPr id="35" name="直接连接符 34"/>
            <p:cNvCxnSpPr/>
            <p:nvPr/>
          </p:nvCxnSpPr>
          <p:spPr>
            <a:xfrm flipH="1">
              <a:off x="7796463" y="1838300"/>
              <a:ext cx="3607861" cy="0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 flipH="1">
              <a:off x="10544175" y="1762998"/>
              <a:ext cx="860150" cy="0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组合 35"/>
          <p:cNvGrpSpPr/>
          <p:nvPr/>
        </p:nvGrpSpPr>
        <p:grpSpPr>
          <a:xfrm>
            <a:off x="173449" y="4428336"/>
            <a:ext cx="3235048" cy="954982"/>
            <a:chOff x="209724" y="4394568"/>
            <a:chExt cx="3235048" cy="954982"/>
          </a:xfrm>
        </p:grpSpPr>
        <p:sp>
          <p:nvSpPr>
            <p:cNvPr id="54" name="文本框 53"/>
            <p:cNvSpPr txBox="1"/>
            <p:nvPr/>
          </p:nvSpPr>
          <p:spPr>
            <a:xfrm>
              <a:off x="606377" y="4394568"/>
              <a:ext cx="2385970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核心技术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209724" y="4699310"/>
              <a:ext cx="3235048" cy="6502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4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 Light"/>
                  <a:ea typeface="微软雅黑 Light"/>
                  <a:sym typeface="+mn-ea"/>
                </a:rPr>
                <a:t>LangChain</a:t>
              </a:r>
              <a:endPara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4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 Light"/>
                  <a:ea typeface="微软雅黑 Light"/>
                  <a:sym typeface="+mn-ea"/>
                </a:rPr>
                <a:t>MCP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endParaRPr>
            </a:p>
          </p:txBody>
        </p:sp>
      </p:grpSp>
      <p:pic>
        <p:nvPicPr>
          <p:cNvPr id="38" name="图形 37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02150" y="365509"/>
            <a:ext cx="2161308" cy="5994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 tmFilter="0, 0; .2, .5; .8, .5; 1, 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500" autoRev="1" fill="hold"/>
                                        <p:tgtEl>
                                          <p:spTgt spid="3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803775" y="2785110"/>
            <a:ext cx="5003800" cy="12877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b="1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>
                <a:solidFill>
                  <a:schemeClr val="tx1"/>
                </a:solidFill>
              </a:rPr>
              <a:t>核心技术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3209925" y="2363470"/>
            <a:ext cx="2129790" cy="2129790"/>
          </a:xfrm>
          <a:prstGeom prst="ellipse">
            <a:avLst/>
          </a:prstGeom>
          <a:gradFill>
            <a:gsLst>
              <a:gs pos="0">
                <a:srgbClr val="012D86">
                  <a:alpha val="72000"/>
                </a:srgbClr>
              </a:gs>
              <a:gs pos="100000">
                <a:srgbClr val="0E2557"/>
              </a:gs>
            </a:gsLst>
            <a:lin ang="5400000" scaled="0"/>
          </a:gra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865563" y="2644140"/>
            <a:ext cx="861060" cy="156845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altLang="zh-CN" sz="9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sym typeface="+mn-ea"/>
              </a:rPr>
              <a:t>1</a:t>
            </a:r>
            <a:endParaRPr lang="en-US" altLang="zh-CN" sz="96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" y="481263"/>
            <a:ext cx="12192000" cy="72000"/>
          </a:xfrm>
          <a:prstGeom prst="rect">
            <a:avLst/>
          </a:prstGeom>
          <a:solidFill>
            <a:srgbClr val="003F87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82090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5339636" y="76583"/>
            <a:ext cx="6097856" cy="368300"/>
            <a:chOff x="5339636" y="76583"/>
            <a:chExt cx="6097856" cy="368300"/>
          </a:xfrm>
        </p:grpSpPr>
        <p:sp>
          <p:nvSpPr>
            <p:cNvPr id="12" name="矩形 11"/>
            <p:cNvSpPr/>
            <p:nvPr/>
          </p:nvSpPr>
          <p:spPr>
            <a:xfrm>
              <a:off x="5339636" y="104027"/>
              <a:ext cx="1311305" cy="308804"/>
            </a:xfrm>
            <a:prstGeom prst="rect">
              <a:avLst/>
            </a:prstGeom>
            <a:solidFill>
              <a:srgbClr val="003F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5416649" y="76583"/>
              <a:ext cx="1130968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核心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技术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6990001" y="76583"/>
              <a:ext cx="125095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F87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RAG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F87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系统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0306524" y="76583"/>
              <a:ext cx="1130968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F87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运行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F87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效果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endParaRPr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6791404" y="159486"/>
              <a:ext cx="3296092" cy="209852"/>
              <a:chOff x="6358270" y="115009"/>
              <a:chExt cx="3296092" cy="307494"/>
            </a:xfrm>
          </p:grpSpPr>
          <p:cxnSp>
            <p:nvCxnSpPr>
              <p:cNvPr id="9" name="直接连接符 8"/>
              <p:cNvCxnSpPr/>
              <p:nvPr/>
            </p:nvCxnSpPr>
            <p:spPr>
              <a:xfrm>
                <a:off x="6358270" y="115009"/>
                <a:ext cx="0" cy="307494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接连接符 9"/>
              <p:cNvCxnSpPr/>
              <p:nvPr/>
            </p:nvCxnSpPr>
            <p:spPr>
              <a:xfrm>
                <a:off x="8006316" y="115009"/>
                <a:ext cx="0" cy="307494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连接符 10"/>
              <p:cNvCxnSpPr/>
              <p:nvPr/>
            </p:nvCxnSpPr>
            <p:spPr>
              <a:xfrm>
                <a:off x="9654362" y="115009"/>
                <a:ext cx="0" cy="307494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41" name="图形 4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3661" y="98896"/>
            <a:ext cx="1251222" cy="347019"/>
          </a:xfrm>
          <a:prstGeom prst="rect">
            <a:avLst/>
          </a:prstGeom>
        </p:spPr>
      </p:pic>
      <p:sp>
        <p:nvSpPr>
          <p:cNvPr id="74" name="文本框 73"/>
          <p:cNvSpPr txBox="1"/>
          <p:nvPr/>
        </p:nvSpPr>
        <p:spPr>
          <a:xfrm>
            <a:off x="382270" y="737235"/>
            <a:ext cx="5479415" cy="57835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Bold" panose="02010800040101010101" charset="-122"/>
                <a:cs typeface="Times New Roman Regular" panose="02020603050405020304" charset="0"/>
              </a:rPr>
              <a:t>LangChain 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是一个用于开发由语言模型驱动的应用程序的框架。它使得应用程序能够：</a:t>
            </a:r>
            <a:endParaRPr kumimoji="0" lang="en-US" altLang="zh-CN" sz="1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 Regular" panose="02020603050405020304" charset="0"/>
              <a:ea typeface="Songti SC Regular" panose="02010800040101010101" charset="-122"/>
              <a:cs typeface="Times New Roman Regular" panose="0202060305040502030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-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Bold" panose="02010800040101010101" charset="-122"/>
                <a:cs typeface="Times New Roman Regular" panose="02020603050405020304" charset="0"/>
              </a:rPr>
              <a:t>具有上下文感知能力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：让模型能理解并运用相关背景信息（如指令、示例、当前对话）进行响应。</a:t>
            </a:r>
            <a:endParaRPr kumimoji="0" lang="zh-CN" altLang="en-US" sz="1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 Regular" panose="02020603050405020304" charset="0"/>
              <a:ea typeface="Songti SC Regular" panose="02010800040101010101" charset="-122"/>
              <a:cs typeface="Times New Roman Regular" panose="0202060305040502030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-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Bold" panose="02010800040101010101" charset="-122"/>
                <a:cs typeface="Times New Roman Regular" panose="02020603050405020304" charset="0"/>
              </a:rPr>
              <a:t>具有推理能力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：使模型能基于给定信息进行思考、决策（如判断如何回答、采取何种行动）。</a:t>
            </a:r>
            <a:endParaRPr kumimoji="0" lang="zh-CN" altLang="en-US" sz="1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 Regular" panose="02020603050405020304" charset="0"/>
              <a:ea typeface="Songti SC Regular" panose="02010800040101010101" charset="-122"/>
              <a:cs typeface="Times New Roman Regular" panose="0202060305040502030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 Regular" panose="02020603050405020304" charset="0"/>
              <a:ea typeface="Songti SC Regular" panose="02010800040101010101" charset="-122"/>
              <a:cs typeface="Times New Roman Regular" panose="0202060305040502030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该框架由几部分组成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：</a:t>
            </a:r>
            <a:endParaRPr kumimoji="0" lang="en-US" altLang="zh-CN" sz="1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 Regular" panose="02020603050405020304" charset="0"/>
              <a:ea typeface="Songti SC Regular" panose="02010800040101010101" charset="-122"/>
              <a:cs typeface="Times New Roman Regular" panose="0202060305040502030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-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 LangChain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库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：提供构建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LLM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应用所需的组件、接口与集成。</a:t>
            </a:r>
            <a:endParaRPr kumimoji="0" lang="zh-CN" altLang="en-US" sz="1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 Regular" panose="02020603050405020304" charset="0"/>
              <a:ea typeface="Songti SC Regular" panose="02010800040101010101" charset="-122"/>
              <a:cs typeface="Times New Roman Regular" panose="0202060305040502030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- </a:t>
            </a:r>
            <a:r>
              <a:rPr lang="en-US" altLang="zh-CN" b="1" noProof="0" dirty="0">
                <a:ln>
                  <a:noFill/>
                </a:ln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  <a:sym typeface="+mn-ea"/>
              </a:rPr>
              <a:t>LangChain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模板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：提供多种即开即用的参考应用架构。</a:t>
            </a:r>
            <a:endParaRPr kumimoji="0" lang="zh-CN" altLang="en-US" sz="1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 Regular" panose="02020603050405020304" charset="0"/>
              <a:ea typeface="Songti SC Regular" panose="02010800040101010101" charset="-122"/>
              <a:cs typeface="Times New Roman Regular" panose="0202060305040502030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- </a:t>
            </a:r>
            <a:r>
              <a:rPr lang="en-US" altLang="zh-CN" b="1" noProof="0" dirty="0">
                <a:ln>
                  <a:noFill/>
                </a:ln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  <a:sym typeface="+mn-ea"/>
              </a:rPr>
              <a:t>LangServe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：用于将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 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  <a:sym typeface="+mn-ea"/>
              </a:rPr>
              <a:t>LangChain 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  <a:sym typeface="+mn-ea"/>
              </a:rPr>
              <a:t>应用程序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部署为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 REST API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。</a:t>
            </a:r>
            <a:endParaRPr kumimoji="0" lang="zh-CN" altLang="en-US" sz="1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 Regular" panose="02020603050405020304" charset="0"/>
              <a:ea typeface="Songti SC Regular" panose="02010800040101010101" charset="-122"/>
              <a:cs typeface="Times New Roman Regular" panose="0202060305040502030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- </a:t>
            </a:r>
            <a:r>
              <a:rPr lang="en-US" altLang="zh-CN" b="1" noProof="0" dirty="0">
                <a:ln>
                  <a:noFill/>
                </a:ln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  <a:sym typeface="+mn-ea"/>
              </a:rPr>
              <a:t>LangSmith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：一个开发者平台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、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用于调试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、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监控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、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评估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。</a:t>
            </a:r>
            <a:endParaRPr kumimoji="0" lang="en-US" altLang="zh-CN" sz="1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 Regular" panose="02020603050405020304" charset="0"/>
              <a:ea typeface="Songti SC Regular" panose="02010800040101010101" charset="-122"/>
              <a:cs typeface="Times New Roman Regular" panose="02020603050405020304" charset="0"/>
            </a:endParaRPr>
          </a:p>
        </p:txBody>
      </p:sp>
      <p:pic>
        <p:nvPicPr>
          <p:cNvPr id="15" name="图片 14" descr="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8840" y="737235"/>
            <a:ext cx="5478780" cy="559816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8659416" y="76583"/>
            <a:ext cx="1200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MCP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扩展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3F87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" y="481263"/>
            <a:ext cx="12192000" cy="72000"/>
          </a:xfrm>
          <a:prstGeom prst="rect">
            <a:avLst/>
          </a:prstGeom>
          <a:solidFill>
            <a:srgbClr val="003F87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82090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5339636" y="76583"/>
            <a:ext cx="6097856" cy="368300"/>
            <a:chOff x="5339636" y="76583"/>
            <a:chExt cx="6097856" cy="368300"/>
          </a:xfrm>
        </p:grpSpPr>
        <p:sp>
          <p:nvSpPr>
            <p:cNvPr id="12" name="矩形 11"/>
            <p:cNvSpPr/>
            <p:nvPr/>
          </p:nvSpPr>
          <p:spPr>
            <a:xfrm>
              <a:off x="5339636" y="104027"/>
              <a:ext cx="1311305" cy="308804"/>
            </a:xfrm>
            <a:prstGeom prst="rect">
              <a:avLst/>
            </a:prstGeom>
            <a:solidFill>
              <a:srgbClr val="003F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5416649" y="76583"/>
              <a:ext cx="1130968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核心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技术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6990001" y="76583"/>
              <a:ext cx="125095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F87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RAG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F87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系统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0306524" y="76583"/>
              <a:ext cx="1130968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F87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运行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F87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效果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endParaRPr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6791404" y="159486"/>
              <a:ext cx="3296092" cy="209852"/>
              <a:chOff x="6358270" y="115009"/>
              <a:chExt cx="3296092" cy="307494"/>
            </a:xfrm>
          </p:grpSpPr>
          <p:cxnSp>
            <p:nvCxnSpPr>
              <p:cNvPr id="9" name="直接连接符 8"/>
              <p:cNvCxnSpPr/>
              <p:nvPr/>
            </p:nvCxnSpPr>
            <p:spPr>
              <a:xfrm>
                <a:off x="6358270" y="115009"/>
                <a:ext cx="0" cy="307494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接连接符 9"/>
              <p:cNvCxnSpPr/>
              <p:nvPr/>
            </p:nvCxnSpPr>
            <p:spPr>
              <a:xfrm>
                <a:off x="8006316" y="115009"/>
                <a:ext cx="0" cy="307494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连接符 10"/>
              <p:cNvCxnSpPr/>
              <p:nvPr/>
            </p:nvCxnSpPr>
            <p:spPr>
              <a:xfrm>
                <a:off x="9654362" y="115009"/>
                <a:ext cx="0" cy="307494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41" name="图形 4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3661" y="98896"/>
            <a:ext cx="1251222" cy="347019"/>
          </a:xfrm>
          <a:prstGeom prst="rect">
            <a:avLst/>
          </a:prstGeom>
        </p:spPr>
      </p:pic>
      <p:sp>
        <p:nvSpPr>
          <p:cNvPr id="74" name="文本框 73"/>
          <p:cNvSpPr txBox="1"/>
          <p:nvPr/>
        </p:nvSpPr>
        <p:spPr>
          <a:xfrm>
            <a:off x="382270" y="737235"/>
            <a:ext cx="5479415" cy="57835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Bold" panose="02020603050405020304" charset="0"/>
                <a:ea typeface="Songti SC Regular" panose="02010800040101010101" charset="-122"/>
                <a:cs typeface="Times New Roman Bold" panose="02020603050405020304" charset="0"/>
              </a:rPr>
              <a:t>LangChain 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由六个模块组成，分别是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Model IO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、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Retrieval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、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Memory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、</a:t>
            </a:r>
            <a:r>
              <a:rPr lang="en-US" altLang="zh-CN" b="1" noProof="0" dirty="0">
                <a:ln>
                  <a:noFill/>
                </a:ln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  <a:sym typeface="+mn-ea"/>
              </a:rPr>
              <a:t>Chains、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Agents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和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Callbacks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。</a:t>
            </a:r>
            <a:endParaRPr kumimoji="0" lang="zh-CN" altLang="en-US" sz="1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 Regular" panose="02020603050405020304" charset="0"/>
              <a:ea typeface="Songti SC Regular" panose="02010800040101010101" charset="-122"/>
              <a:cs typeface="Times New Roman Regular" panose="0202060305040502030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 Regular" panose="02020603050405020304" charset="0"/>
              <a:ea typeface="Songti SC Regular" panose="02010800040101010101" charset="-122"/>
              <a:cs typeface="Times New Roman Regular" panose="0202060305040502030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  <a:sym typeface="+mn-ea"/>
              </a:rPr>
              <a:t>-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Bold" panose="02020603050405020304" charset="0"/>
                <a:ea typeface="Songti SC Regular" panose="02010800040101010101" charset="-122"/>
                <a:cs typeface="Times New Roman Bold" panose="02020603050405020304" charset="0"/>
              </a:rPr>
              <a:t>Model I/O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: 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管理模型输入、调用与输出。</a:t>
            </a:r>
            <a:endParaRPr kumimoji="0" lang="zh-CN" altLang="en-US" sz="1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 Regular" panose="02020603050405020304" charset="0"/>
              <a:ea typeface="Songti SC Regular" panose="02010800040101010101" charset="-122"/>
              <a:cs typeface="Times New Roman Regular" panose="0202060305040502030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  <a:sym typeface="+mn-ea"/>
              </a:rPr>
              <a:t>-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Bold" panose="02020603050405020304" charset="0"/>
                <a:ea typeface="Songti SC Regular" panose="02010800040101010101" charset="-122"/>
                <a:cs typeface="Times New Roman Bold" panose="02020603050405020304" charset="0"/>
              </a:rPr>
              <a:t>Retrieval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: 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从外部数据源高效查找相关信息。</a:t>
            </a:r>
            <a:endParaRPr kumimoji="0" lang="zh-CN" altLang="en-US" sz="1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 Regular" panose="02020603050405020304" charset="0"/>
              <a:ea typeface="Songti SC Regular" panose="02010800040101010101" charset="-122"/>
              <a:cs typeface="Times New Roman Regular" panose="0202060305040502030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  <a:sym typeface="+mn-ea"/>
              </a:rPr>
              <a:t>-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Bold" panose="02020603050405020304" charset="0"/>
                <a:ea typeface="Songti SC Regular" panose="02010800040101010101" charset="-122"/>
                <a:cs typeface="Times New Roman Bold" panose="02020603050405020304" charset="0"/>
              </a:rPr>
              <a:t>Memory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: 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记录对话历史，保持上下文连贯。</a:t>
            </a:r>
            <a:endParaRPr kumimoji="0" lang="zh-CN" altLang="en-US" sz="1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 Regular" panose="02020603050405020304" charset="0"/>
              <a:ea typeface="Songti SC Regular" panose="02010800040101010101" charset="-122"/>
              <a:cs typeface="Times New Roman Regular" panose="0202060305040502030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  <a:sym typeface="+mn-ea"/>
              </a:rPr>
              <a:t>-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Bold" panose="02020603050405020304" charset="0"/>
                <a:ea typeface="Songti SC Regular" panose="02010800040101010101" charset="-122"/>
                <a:cs typeface="Times New Roman Bold" panose="02020603050405020304" charset="0"/>
              </a:rPr>
              <a:t>Chains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: 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把多个步骤串联成复杂流程。</a:t>
            </a:r>
            <a:endParaRPr kumimoji="0" lang="zh-CN" altLang="en-US" sz="1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 Regular" panose="02020603050405020304" charset="0"/>
              <a:ea typeface="Songti SC Regular" panose="02010800040101010101" charset="-122"/>
              <a:cs typeface="Times New Roman Regular" panose="0202060305040502030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  <a:sym typeface="+mn-ea"/>
              </a:rPr>
              <a:t>-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Bold" panose="02020603050405020304" charset="0"/>
                <a:ea typeface="Songti SC Regular" panose="02010800040101010101" charset="-122"/>
                <a:cs typeface="Times New Roman Bold" panose="02020603050405020304" charset="0"/>
              </a:rPr>
              <a:t>Agents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: 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  <a:sym typeface="+mn-ea"/>
              </a:rPr>
              <a:t>根据用户意图自主选用工具执行任务。</a:t>
            </a:r>
            <a:endParaRPr lang="zh-CN" altLang="en-US" noProof="0" dirty="0">
              <a:ln>
                <a:noFill/>
              </a:ln>
              <a:effectLst/>
              <a:uLnTx/>
              <a:uFillTx/>
              <a:latin typeface="Times New Roman Regular" panose="02020603050405020304" charset="0"/>
              <a:ea typeface="Songti SC Regular" panose="02010800040101010101" charset="-122"/>
              <a:cs typeface="Times New Roman Regular" panose="02020603050405020304" charset="0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  <a:sym typeface="+mn-ea"/>
              </a:rPr>
              <a:t>-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Bold" panose="02020603050405020304" charset="0"/>
                <a:ea typeface="Songti SC Regular" panose="02010800040101010101" charset="-122"/>
                <a:cs typeface="Times New Roman Bold" panose="02020603050405020304" charset="0"/>
              </a:rPr>
              <a:t>Callbacks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: 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在各阶段插入日志、监控与调试钩子。</a:t>
            </a:r>
            <a:endParaRPr kumimoji="0" lang="zh-CN" altLang="en-US" sz="1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 Regular" panose="02020603050405020304" charset="0"/>
              <a:ea typeface="Songti SC Regular" panose="02010800040101010101" charset="-122"/>
              <a:cs typeface="Times New Roman Regular" panose="02020603050405020304" charset="0"/>
            </a:endParaRPr>
          </a:p>
        </p:txBody>
      </p:sp>
      <p:pic>
        <p:nvPicPr>
          <p:cNvPr id="3" name="图片 2" descr="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1220" y="737235"/>
            <a:ext cx="5923915" cy="522732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8659416" y="76583"/>
            <a:ext cx="1200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MCP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扩展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3F87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" y="481263"/>
            <a:ext cx="12192000" cy="72000"/>
          </a:xfrm>
          <a:prstGeom prst="rect">
            <a:avLst/>
          </a:prstGeom>
          <a:solidFill>
            <a:srgbClr val="003F87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82090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5339636" y="76583"/>
            <a:ext cx="6097856" cy="368300"/>
            <a:chOff x="5339636" y="76583"/>
            <a:chExt cx="6097856" cy="368300"/>
          </a:xfrm>
        </p:grpSpPr>
        <p:sp>
          <p:nvSpPr>
            <p:cNvPr id="12" name="矩形 11"/>
            <p:cNvSpPr/>
            <p:nvPr/>
          </p:nvSpPr>
          <p:spPr>
            <a:xfrm>
              <a:off x="5339636" y="104027"/>
              <a:ext cx="1311305" cy="308804"/>
            </a:xfrm>
            <a:prstGeom prst="rect">
              <a:avLst/>
            </a:prstGeom>
            <a:solidFill>
              <a:srgbClr val="003F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5416649" y="76583"/>
              <a:ext cx="1130968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核心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技术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6990001" y="76583"/>
              <a:ext cx="125095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F87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RAG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F87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系统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0306524" y="76583"/>
              <a:ext cx="1130968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F87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运行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F87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效果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endParaRPr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6791404" y="159486"/>
              <a:ext cx="3296092" cy="209852"/>
              <a:chOff x="6358270" y="115009"/>
              <a:chExt cx="3296092" cy="307494"/>
            </a:xfrm>
          </p:grpSpPr>
          <p:cxnSp>
            <p:nvCxnSpPr>
              <p:cNvPr id="9" name="直接连接符 8"/>
              <p:cNvCxnSpPr/>
              <p:nvPr/>
            </p:nvCxnSpPr>
            <p:spPr>
              <a:xfrm>
                <a:off x="6358270" y="115009"/>
                <a:ext cx="0" cy="307494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接连接符 9"/>
              <p:cNvCxnSpPr/>
              <p:nvPr/>
            </p:nvCxnSpPr>
            <p:spPr>
              <a:xfrm>
                <a:off x="8006316" y="115009"/>
                <a:ext cx="0" cy="307494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连接符 10"/>
              <p:cNvCxnSpPr/>
              <p:nvPr/>
            </p:nvCxnSpPr>
            <p:spPr>
              <a:xfrm>
                <a:off x="9654362" y="115009"/>
                <a:ext cx="0" cy="307494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41" name="图形 4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3661" y="98896"/>
            <a:ext cx="1251222" cy="347019"/>
          </a:xfrm>
          <a:prstGeom prst="rect">
            <a:avLst/>
          </a:prstGeom>
        </p:spPr>
      </p:pic>
      <p:sp>
        <p:nvSpPr>
          <p:cNvPr id="74" name="文本框 73"/>
          <p:cNvSpPr txBox="1"/>
          <p:nvPr/>
        </p:nvSpPr>
        <p:spPr>
          <a:xfrm>
            <a:off x="382270" y="737235"/>
            <a:ext cx="11276330" cy="57835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MCP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（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Model Context Protocol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，模型上下文协议）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，是由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 Anthropic 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推出的一种开放标准，旨在统一大型语言模型（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LLM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）与外部数据源和工具之间的通信协议。</a:t>
            </a:r>
            <a:endParaRPr kumimoji="0" lang="zh-CN" altLang="en-US" sz="1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 Regular" panose="02020603050405020304" charset="0"/>
              <a:ea typeface="Songti SC Regular" panose="02010800040101010101" charset="-122"/>
              <a:cs typeface="Times New Roman Regular" panose="0202060305040502030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 Regular" panose="02020603050405020304" charset="0"/>
              <a:ea typeface="Songti SC Regular" panose="02010800040101010101" charset="-122"/>
              <a:cs typeface="Times New Roman Regular" panose="02020603050405020304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659416" y="76583"/>
            <a:ext cx="1200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MCP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扩展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3F87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pic>
        <p:nvPicPr>
          <p:cNvPr id="6" name="图片 5" descr="1280X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5620" y="1667510"/>
            <a:ext cx="8621395" cy="48533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" y="481263"/>
            <a:ext cx="12192000" cy="72000"/>
          </a:xfrm>
          <a:prstGeom prst="rect">
            <a:avLst/>
          </a:prstGeom>
          <a:solidFill>
            <a:srgbClr val="003F87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82090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5339636" y="76583"/>
            <a:ext cx="6097856" cy="368300"/>
            <a:chOff x="5339636" y="76583"/>
            <a:chExt cx="6097856" cy="368300"/>
          </a:xfrm>
        </p:grpSpPr>
        <p:sp>
          <p:nvSpPr>
            <p:cNvPr id="12" name="矩形 11"/>
            <p:cNvSpPr/>
            <p:nvPr/>
          </p:nvSpPr>
          <p:spPr>
            <a:xfrm>
              <a:off x="5339636" y="104027"/>
              <a:ext cx="1311305" cy="308804"/>
            </a:xfrm>
            <a:prstGeom prst="rect">
              <a:avLst/>
            </a:prstGeom>
            <a:solidFill>
              <a:srgbClr val="003F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5416649" y="76583"/>
              <a:ext cx="1130968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核心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技术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6990001" y="76583"/>
              <a:ext cx="125095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F87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RAG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F87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系统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0306524" y="76583"/>
              <a:ext cx="1130968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F87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运行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F87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效果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endParaRPr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6791404" y="159486"/>
              <a:ext cx="3296092" cy="209852"/>
              <a:chOff x="6358270" y="115009"/>
              <a:chExt cx="3296092" cy="307494"/>
            </a:xfrm>
          </p:grpSpPr>
          <p:cxnSp>
            <p:nvCxnSpPr>
              <p:cNvPr id="9" name="直接连接符 8"/>
              <p:cNvCxnSpPr/>
              <p:nvPr/>
            </p:nvCxnSpPr>
            <p:spPr>
              <a:xfrm>
                <a:off x="6358270" y="115009"/>
                <a:ext cx="0" cy="307494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接连接符 9"/>
              <p:cNvCxnSpPr/>
              <p:nvPr/>
            </p:nvCxnSpPr>
            <p:spPr>
              <a:xfrm>
                <a:off x="8006316" y="115009"/>
                <a:ext cx="0" cy="307494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连接符 10"/>
              <p:cNvCxnSpPr/>
              <p:nvPr/>
            </p:nvCxnSpPr>
            <p:spPr>
              <a:xfrm>
                <a:off x="9654362" y="115009"/>
                <a:ext cx="0" cy="307494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41" name="图形 4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3661" y="98896"/>
            <a:ext cx="1251222" cy="347019"/>
          </a:xfrm>
          <a:prstGeom prst="rect">
            <a:avLst/>
          </a:prstGeom>
        </p:spPr>
      </p:pic>
      <p:sp>
        <p:nvSpPr>
          <p:cNvPr id="74" name="文本框 73"/>
          <p:cNvSpPr txBox="1"/>
          <p:nvPr/>
        </p:nvSpPr>
        <p:spPr>
          <a:xfrm>
            <a:off x="382270" y="737235"/>
            <a:ext cx="5145405" cy="57835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阶段一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：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传统大模型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 Regular" panose="02020603050405020304" charset="0"/>
              <a:ea typeface="Songti SC Regular" panose="02010800040101010101" charset="-122"/>
              <a:cs typeface="Times New Roman Regular" panose="0202060305040502030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为了让大模型等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 AI 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应用使用我们的数据，要么复制粘贴，要么上传下载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,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即使是最强大模型也会受到数据隔离的限制，形成信息孤岛，要做出更强大的模型，每个新数据源都需要自己重新定制实现，使真正互联的系统难以扩展，存在很多的局限性。</a:t>
            </a:r>
            <a:endParaRPr kumimoji="0" lang="zh-CN" altLang="en-US" sz="1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 Regular" panose="02020603050405020304" charset="0"/>
              <a:ea typeface="Songti SC Regular" panose="02010800040101010101" charset="-122"/>
              <a:cs typeface="Times New Roman Regular" panose="0202060305040502030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 Regular" panose="02020603050405020304" charset="0"/>
              <a:ea typeface="Songti SC Regular" panose="02010800040101010101" charset="-122"/>
              <a:cs typeface="Times New Roman Regular" panose="0202060305040502030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1. 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传统大模型受到数据隔离的限制</a:t>
            </a:r>
            <a:endParaRPr kumimoji="0" lang="zh-CN" altLang="en-US" sz="1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 Regular" panose="02020603050405020304" charset="0"/>
              <a:ea typeface="Songti SC Regular" panose="02010800040101010101" charset="-122"/>
              <a:cs typeface="Times New Roman Regular" panose="0202060305040502030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2. 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大模型的核心功能是生成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 token 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和提供答案，因此它无法直接执行一些精细且需操作的具体任务，这也不是当前大模型的强项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：</a:t>
            </a:r>
            <a:endParaRPr kumimoji="0" lang="zh-CN" altLang="en-US" sz="1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 Regular" panose="02020603050405020304" charset="0"/>
              <a:ea typeface="Songti SC Regular" panose="02010800040101010101" charset="-122"/>
              <a:cs typeface="Times New Roman Regular" panose="0202060305040502030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- 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比如调用其他服务的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 API 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帮你完成订餐和购票。</a:t>
            </a:r>
            <a:endParaRPr kumimoji="0" lang="zh-CN" altLang="en-US" sz="1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 Regular" panose="02020603050405020304" charset="0"/>
              <a:ea typeface="Songti SC Regular" panose="02010800040101010101" charset="-122"/>
              <a:cs typeface="Times New Roman Regular" panose="0202060305040502030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- 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又比如比较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 9.8 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和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 9.11 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哪个大，或者计算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 Strawberry 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中到底有几个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 r</a:t>
            </a:r>
            <a:endParaRPr kumimoji="0" lang="en-US" altLang="zh-CN" sz="1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 Regular" panose="02020603050405020304" charset="0"/>
              <a:ea typeface="Songti SC Regular" panose="02010800040101010101" charset="-122"/>
              <a:cs typeface="Times New Roman Regular" panose="02020603050405020304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659416" y="76583"/>
            <a:ext cx="1200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MCP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扩展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3F87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pic>
        <p:nvPicPr>
          <p:cNvPr id="3" name="图片 2" descr="1280X1280 (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5305" y="1748155"/>
            <a:ext cx="5822315" cy="37623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" y="481263"/>
            <a:ext cx="12192000" cy="72000"/>
          </a:xfrm>
          <a:prstGeom prst="rect">
            <a:avLst/>
          </a:prstGeom>
          <a:solidFill>
            <a:srgbClr val="003F87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82090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5339636" y="76583"/>
            <a:ext cx="6097856" cy="368300"/>
            <a:chOff x="5339636" y="76583"/>
            <a:chExt cx="6097856" cy="368300"/>
          </a:xfrm>
        </p:grpSpPr>
        <p:sp>
          <p:nvSpPr>
            <p:cNvPr id="12" name="矩形 11"/>
            <p:cNvSpPr/>
            <p:nvPr/>
          </p:nvSpPr>
          <p:spPr>
            <a:xfrm>
              <a:off x="5339636" y="104027"/>
              <a:ext cx="1311305" cy="308804"/>
            </a:xfrm>
            <a:prstGeom prst="rect">
              <a:avLst/>
            </a:prstGeom>
            <a:solidFill>
              <a:srgbClr val="003F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5416649" y="76583"/>
              <a:ext cx="1130968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核心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技术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6990001" y="76583"/>
              <a:ext cx="125095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F87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RAG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F87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系统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0306524" y="76583"/>
              <a:ext cx="1130968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F87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运行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F87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效果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endParaRPr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6791404" y="159486"/>
              <a:ext cx="3296092" cy="209852"/>
              <a:chOff x="6358270" y="115009"/>
              <a:chExt cx="3296092" cy="307494"/>
            </a:xfrm>
          </p:grpSpPr>
          <p:cxnSp>
            <p:nvCxnSpPr>
              <p:cNvPr id="9" name="直接连接符 8"/>
              <p:cNvCxnSpPr/>
              <p:nvPr/>
            </p:nvCxnSpPr>
            <p:spPr>
              <a:xfrm>
                <a:off x="6358270" y="115009"/>
                <a:ext cx="0" cy="307494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接连接符 9"/>
              <p:cNvCxnSpPr/>
              <p:nvPr/>
            </p:nvCxnSpPr>
            <p:spPr>
              <a:xfrm>
                <a:off x="8006316" y="115009"/>
                <a:ext cx="0" cy="307494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连接符 10"/>
              <p:cNvCxnSpPr/>
              <p:nvPr/>
            </p:nvCxnSpPr>
            <p:spPr>
              <a:xfrm>
                <a:off x="9654362" y="115009"/>
                <a:ext cx="0" cy="307494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41" name="图形 4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3661" y="98896"/>
            <a:ext cx="1251222" cy="347019"/>
          </a:xfrm>
          <a:prstGeom prst="rect">
            <a:avLst/>
          </a:prstGeom>
        </p:spPr>
      </p:pic>
      <p:sp>
        <p:nvSpPr>
          <p:cNvPr id="74" name="文本框 73"/>
          <p:cNvSpPr txBox="1"/>
          <p:nvPr/>
        </p:nvSpPr>
        <p:spPr>
          <a:xfrm>
            <a:off x="382270" y="718185"/>
            <a:ext cx="11358880" cy="57835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阶段二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：FunctionCall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 Regular" panose="02020603050405020304" charset="0"/>
              <a:ea typeface="Songti SC Regular" panose="02010800040101010101" charset="-122"/>
              <a:cs typeface="Times New Roman Regular" panose="0202060305040502030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优势：解决了传统大模型的局限性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（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左图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）</a:t>
            </a:r>
            <a:endParaRPr kumimoji="0" lang="zh-CN" altLang="en-US" sz="1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 Regular" panose="02020603050405020304" charset="0"/>
              <a:ea typeface="Songti SC Regular" panose="02010800040101010101" charset="-122"/>
              <a:cs typeface="Times New Roman Regular" panose="0202060305040502030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劣势：</a:t>
            </a:r>
            <a:endParaRPr kumimoji="0" lang="zh-CN" altLang="en-US" sz="1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 Regular" panose="02020603050405020304" charset="0"/>
              <a:ea typeface="Songti SC Regular" panose="02010800040101010101" charset="-122"/>
              <a:cs typeface="Times New Roman Regular" panose="0202060305040502030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1. 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依赖模型能力：模型本身需要进行过专门的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 Function Call 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调用微调</a:t>
            </a:r>
            <a:endParaRPr kumimoji="0" lang="zh-CN" altLang="en-US" sz="1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 Regular" panose="02020603050405020304" charset="0"/>
              <a:ea typeface="Songti SC Regular" panose="02010800040101010101" charset="-122"/>
              <a:cs typeface="Times New Roman Regular" panose="0202060305040502030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2. 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各家模型不通用（右图）：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OPEN AI 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最开始提出这项技术的时候，并没有想让它成为一项标准，所以虽然后续很多模型也支持了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 Function Call 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的调用，但是各自实现的方式都不太一样。这也就意味着，如果我们要发开一个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 Function Call 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工具，需要对不同的模型进行适配，比如参数格式、触发逻辑、返回结构等等，这个成本是非常高的。</a:t>
            </a:r>
            <a:endParaRPr kumimoji="0" lang="zh-CN" altLang="en-US" sz="1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 Regular" panose="02020603050405020304" charset="0"/>
              <a:ea typeface="Songti SC Regular" panose="02010800040101010101" charset="-122"/>
              <a:cs typeface="Times New Roman Regular" panose="02020603050405020304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659416" y="76583"/>
            <a:ext cx="1200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MCP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扩展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3F87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pic>
        <p:nvPicPr>
          <p:cNvPr id="6" name="图片 5" descr="1280X1280 (2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4660" y="3699510"/>
            <a:ext cx="2985770" cy="2802255"/>
          </a:xfrm>
          <a:prstGeom prst="rect">
            <a:avLst/>
          </a:prstGeom>
        </p:spPr>
      </p:pic>
      <p:pic>
        <p:nvPicPr>
          <p:cNvPr id="16" name="图片 15" descr="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835" y="3692525"/>
            <a:ext cx="4302125" cy="2809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" y="481263"/>
            <a:ext cx="12192000" cy="72000"/>
          </a:xfrm>
          <a:prstGeom prst="rect">
            <a:avLst/>
          </a:prstGeom>
          <a:solidFill>
            <a:srgbClr val="003F87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82090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5339636" y="76583"/>
            <a:ext cx="6097856" cy="368300"/>
            <a:chOff x="5339636" y="76583"/>
            <a:chExt cx="6097856" cy="368300"/>
          </a:xfrm>
        </p:grpSpPr>
        <p:sp>
          <p:nvSpPr>
            <p:cNvPr id="12" name="矩形 11"/>
            <p:cNvSpPr/>
            <p:nvPr/>
          </p:nvSpPr>
          <p:spPr>
            <a:xfrm>
              <a:off x="5339636" y="104027"/>
              <a:ext cx="1311305" cy="308804"/>
            </a:xfrm>
            <a:prstGeom prst="rect">
              <a:avLst/>
            </a:prstGeom>
            <a:solidFill>
              <a:srgbClr val="003F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5416649" y="76583"/>
              <a:ext cx="1130968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核心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技术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6990001" y="76583"/>
              <a:ext cx="125095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F87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RAG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F87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系统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0306524" y="76583"/>
              <a:ext cx="1130968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F87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运行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F87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效果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endParaRPr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6791404" y="159486"/>
              <a:ext cx="3296092" cy="209852"/>
              <a:chOff x="6358270" y="115009"/>
              <a:chExt cx="3296092" cy="307494"/>
            </a:xfrm>
          </p:grpSpPr>
          <p:cxnSp>
            <p:nvCxnSpPr>
              <p:cNvPr id="9" name="直接连接符 8"/>
              <p:cNvCxnSpPr/>
              <p:nvPr/>
            </p:nvCxnSpPr>
            <p:spPr>
              <a:xfrm>
                <a:off x="6358270" y="115009"/>
                <a:ext cx="0" cy="307494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接连接符 9"/>
              <p:cNvCxnSpPr/>
              <p:nvPr/>
            </p:nvCxnSpPr>
            <p:spPr>
              <a:xfrm>
                <a:off x="8006316" y="115009"/>
                <a:ext cx="0" cy="307494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连接符 10"/>
              <p:cNvCxnSpPr/>
              <p:nvPr/>
            </p:nvCxnSpPr>
            <p:spPr>
              <a:xfrm>
                <a:off x="9654362" y="115009"/>
                <a:ext cx="0" cy="307494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41" name="图形 4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3661" y="98896"/>
            <a:ext cx="1251222" cy="347019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8659416" y="76583"/>
            <a:ext cx="1200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MCP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扩展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3F87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82270" y="718185"/>
            <a:ext cx="4957445" cy="57835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阶段三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：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MCP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 Regular" panose="02020603050405020304" charset="0"/>
              <a:ea typeface="Songti SC Regular" panose="02010800040101010101" charset="-122"/>
              <a:cs typeface="Times New Roman Regular" panose="0202060305040502030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1.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ongti SC Bold" panose="02010800040101010101" charset="-122"/>
                <a:ea typeface="Songti SC Bold" panose="02010800040101010101" charset="-122"/>
                <a:cs typeface="Times New Roman Regular" panose="02020603050405020304" charset="0"/>
              </a:rPr>
              <a:t>核心贡献：统一规范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ongti SC Bold" panose="02010800040101010101" charset="-122"/>
                <a:ea typeface="Songti SC Bold" panose="02010800040101010101" charset="-122"/>
                <a:cs typeface="Times New Roman Regular" panose="02020603050405020304" charset="0"/>
              </a:rPr>
              <a:t>。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MCP 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提供了一个通用接口标准，统一连接数据库、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API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、本地文件等外部资源，使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 AI 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与外部工具的交互更加标准化、可复用。</a:t>
            </a:r>
            <a:endParaRPr kumimoji="0" lang="zh-CN" altLang="en-US" sz="1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 Regular" panose="02020603050405020304" charset="0"/>
              <a:ea typeface="Songti SC Regular" panose="02010800040101010101" charset="-122"/>
              <a:cs typeface="Times New Roman Regular" panose="0202060305040502030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 Regular" panose="02020603050405020304" charset="0"/>
              <a:ea typeface="Songti SC Regular" panose="02010800040101010101" charset="-122"/>
              <a:cs typeface="Times New Roman Regular" panose="0202060305040502030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2.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带来的优势：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 Regular" panose="02020603050405020304" charset="0"/>
              <a:ea typeface="Songti SC Regular" panose="02010800040101010101" charset="-122"/>
              <a:cs typeface="Times New Roman Regular" panose="0202060305040502030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简化开发：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LLM 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只需对接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 MCP Server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，无需适配各种私有协议。</a:t>
            </a:r>
            <a:endParaRPr kumimoji="0" lang="en-US" altLang="zh-CN" sz="1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 Regular" panose="02020603050405020304" charset="0"/>
              <a:ea typeface="Songti SC Regular" panose="02010800040101010101" charset="-122"/>
              <a:cs typeface="Times New Roman Regular" panose="0202060305040502030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快速扩展：可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“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插拔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”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式接入多个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 MCP Server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，灵活增强模型能力（如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 Claude Desktop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）。</a:t>
            </a:r>
            <a:endParaRPr kumimoji="0" lang="en-US" altLang="zh-CN" sz="1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 Regular" panose="02020603050405020304" charset="0"/>
              <a:ea typeface="Songti SC Regular" panose="02010800040101010101" charset="-122"/>
              <a:cs typeface="Times New Roman Regular" panose="0202060305040502030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应对变化：外部接口变动仅需更新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 MCP Server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，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LLM 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应用自动适配。</a:t>
            </a:r>
            <a:endParaRPr kumimoji="0" lang="en-US" altLang="zh-CN" sz="1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 Regular" panose="02020603050405020304" charset="0"/>
              <a:ea typeface="Songti SC Regular" panose="02010800040101010101" charset="-122"/>
              <a:cs typeface="Times New Roman Regular" panose="0202060305040502030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能力共享生态：通过共享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 MCP Server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，模型间工具复用成为可能，推动协作和创新。</a:t>
            </a:r>
            <a:endParaRPr kumimoji="0" lang="zh-CN" altLang="en-US" sz="1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 Regular" panose="02020603050405020304" charset="0"/>
              <a:ea typeface="Songti SC Regular" panose="02010800040101010101" charset="-122"/>
              <a:cs typeface="Times New Roman Regular" panose="02020603050405020304" charset="0"/>
            </a:endParaRPr>
          </a:p>
        </p:txBody>
      </p:sp>
      <p:pic>
        <p:nvPicPr>
          <p:cNvPr id="6" name="图片 5" descr="截屏2025-06-04 15.32.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9715" y="1243330"/>
            <a:ext cx="6694805" cy="47332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" y="481263"/>
            <a:ext cx="12192000" cy="72000"/>
          </a:xfrm>
          <a:prstGeom prst="rect">
            <a:avLst/>
          </a:prstGeom>
          <a:solidFill>
            <a:srgbClr val="003F87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82090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5339636" y="76583"/>
            <a:ext cx="6097856" cy="368300"/>
            <a:chOff x="5339636" y="76583"/>
            <a:chExt cx="6097856" cy="368300"/>
          </a:xfrm>
        </p:grpSpPr>
        <p:sp>
          <p:nvSpPr>
            <p:cNvPr id="12" name="矩形 11"/>
            <p:cNvSpPr/>
            <p:nvPr/>
          </p:nvSpPr>
          <p:spPr>
            <a:xfrm>
              <a:off x="5339636" y="104027"/>
              <a:ext cx="1311305" cy="308804"/>
            </a:xfrm>
            <a:prstGeom prst="rect">
              <a:avLst/>
            </a:prstGeom>
            <a:solidFill>
              <a:srgbClr val="003F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5416649" y="76583"/>
              <a:ext cx="1130968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核心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技术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6990001" y="76583"/>
              <a:ext cx="125095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F87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RAG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F87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系统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0306524" y="76583"/>
              <a:ext cx="1130968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F87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运行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F87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效果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endParaRPr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6791404" y="159486"/>
              <a:ext cx="3296092" cy="209852"/>
              <a:chOff x="6358270" y="115009"/>
              <a:chExt cx="3296092" cy="307494"/>
            </a:xfrm>
          </p:grpSpPr>
          <p:cxnSp>
            <p:nvCxnSpPr>
              <p:cNvPr id="9" name="直接连接符 8"/>
              <p:cNvCxnSpPr/>
              <p:nvPr/>
            </p:nvCxnSpPr>
            <p:spPr>
              <a:xfrm>
                <a:off x="6358270" y="115009"/>
                <a:ext cx="0" cy="307494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接连接符 9"/>
              <p:cNvCxnSpPr/>
              <p:nvPr/>
            </p:nvCxnSpPr>
            <p:spPr>
              <a:xfrm>
                <a:off x="8006316" y="115009"/>
                <a:ext cx="0" cy="307494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连接符 10"/>
              <p:cNvCxnSpPr/>
              <p:nvPr/>
            </p:nvCxnSpPr>
            <p:spPr>
              <a:xfrm>
                <a:off x="9654362" y="115009"/>
                <a:ext cx="0" cy="307494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41" name="图形 4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3661" y="98896"/>
            <a:ext cx="1251222" cy="347019"/>
          </a:xfrm>
          <a:prstGeom prst="rect">
            <a:avLst/>
          </a:prstGeom>
        </p:spPr>
      </p:pic>
      <p:sp>
        <p:nvSpPr>
          <p:cNvPr id="74" name="文本框 73"/>
          <p:cNvSpPr txBox="1"/>
          <p:nvPr/>
        </p:nvSpPr>
        <p:spPr>
          <a:xfrm>
            <a:off x="382270" y="737235"/>
            <a:ext cx="5479415" cy="57835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MCP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可以分为以下三个部分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：</a:t>
            </a:r>
            <a:endParaRPr kumimoji="0" lang="en-US" altLang="zh-CN" sz="1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 Regular" panose="02020603050405020304" charset="0"/>
              <a:ea typeface="Songti SC Regular" panose="02010800040101010101" charset="-122"/>
              <a:cs typeface="Times New Roman Regular" panose="0202060305040502030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-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MCP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主机（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MCP Hosts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）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：发起请求的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 LLM 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应用程序（例如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 Claude Desktop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、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IDE 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或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 AI 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工具）。</a:t>
            </a:r>
            <a:endParaRPr kumimoji="0" lang="zh-CN" altLang="en-US" sz="1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 Regular" panose="02020603050405020304" charset="0"/>
              <a:ea typeface="Songti SC Regular" panose="02010800040101010101" charset="-122"/>
              <a:cs typeface="Times New Roman Regular" panose="0202060305040502030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-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MCP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客户端（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MCP Clients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）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：由客户端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 LLM 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应用使用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Client SDK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创建并维护的一个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Server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会话。</a:t>
            </a:r>
            <a:endParaRPr kumimoji="0" lang="zh-CN" altLang="en-US" sz="1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 Regular" panose="02020603050405020304" charset="0"/>
              <a:ea typeface="Songti SC Regular" panose="02010800040101010101" charset="-122"/>
              <a:cs typeface="Times New Roman Regular" panose="0202060305040502030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-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MCP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服务器（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MCP Servers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）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：为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Client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提供上下文、工具和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 prompt 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等信息的服务。可以部署在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 LLM 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应用本机，也可以远程部署（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Remote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）。</a:t>
            </a:r>
            <a:endParaRPr kumimoji="0" lang="zh-CN" altLang="en-US" sz="1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 Regular" panose="02020603050405020304" charset="0"/>
              <a:ea typeface="Songti SC Regular" panose="02010800040101010101" charset="-122"/>
              <a:cs typeface="Times New Roman Regular" panose="02020603050405020304" charset="0"/>
            </a:endParaRPr>
          </a:p>
        </p:txBody>
      </p:sp>
      <p:pic>
        <p:nvPicPr>
          <p:cNvPr id="3" name="图片 2" descr="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1685" y="1928495"/>
            <a:ext cx="6013450" cy="340169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8659416" y="76583"/>
            <a:ext cx="1200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MCP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扩展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3F87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803775" y="2785110"/>
            <a:ext cx="5003800" cy="12877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b="1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>
                <a:solidFill>
                  <a:schemeClr val="tx1"/>
                </a:solidFill>
              </a:rPr>
              <a:t>RAG</a:t>
            </a:r>
            <a:r>
              <a:rPr lang="zh-CN" altLang="en-US">
                <a:solidFill>
                  <a:schemeClr val="tx1"/>
                </a:solidFill>
              </a:rPr>
              <a:t>系统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3209925" y="2363470"/>
            <a:ext cx="2129790" cy="2129790"/>
          </a:xfrm>
          <a:prstGeom prst="ellipse">
            <a:avLst/>
          </a:prstGeom>
          <a:gradFill>
            <a:gsLst>
              <a:gs pos="0">
                <a:srgbClr val="012D86">
                  <a:alpha val="72000"/>
                </a:srgbClr>
              </a:gs>
              <a:gs pos="100000">
                <a:srgbClr val="0E2557"/>
              </a:gs>
            </a:gsLst>
            <a:lin ang="5400000" scaled="0"/>
          </a:gra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865563" y="2644140"/>
            <a:ext cx="861060" cy="156845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altLang="zh-CN" sz="9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sym typeface="+mn-ea"/>
              </a:rPr>
              <a:t>2</a:t>
            </a:r>
            <a:endParaRPr lang="en-US" altLang="zh-CN" sz="96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" y="481263"/>
            <a:ext cx="12192000" cy="72000"/>
          </a:xfrm>
          <a:prstGeom prst="rect">
            <a:avLst/>
          </a:prstGeom>
          <a:solidFill>
            <a:srgbClr val="003F87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82090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5390436" y="63883"/>
            <a:ext cx="6047056" cy="381000"/>
            <a:chOff x="5390436" y="63883"/>
            <a:chExt cx="6047056" cy="381000"/>
          </a:xfrm>
        </p:grpSpPr>
        <p:sp>
          <p:nvSpPr>
            <p:cNvPr id="12" name="矩形 11"/>
            <p:cNvSpPr/>
            <p:nvPr/>
          </p:nvSpPr>
          <p:spPr>
            <a:xfrm>
              <a:off x="6959521" y="104027"/>
              <a:ext cx="1311305" cy="308804"/>
            </a:xfrm>
            <a:prstGeom prst="rect">
              <a:avLst/>
            </a:prstGeom>
            <a:solidFill>
              <a:srgbClr val="003F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7012861" y="63883"/>
              <a:ext cx="120015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RAG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系统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5390436" y="74043"/>
              <a:ext cx="125095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F87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核心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F87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技术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0306524" y="76583"/>
              <a:ext cx="1130968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F87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运行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F87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效果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endParaRPr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6791404" y="159486"/>
              <a:ext cx="3296092" cy="209852"/>
              <a:chOff x="6358270" y="115009"/>
              <a:chExt cx="3296092" cy="307494"/>
            </a:xfrm>
          </p:grpSpPr>
          <p:cxnSp>
            <p:nvCxnSpPr>
              <p:cNvPr id="9" name="直接连接符 8"/>
              <p:cNvCxnSpPr/>
              <p:nvPr/>
            </p:nvCxnSpPr>
            <p:spPr>
              <a:xfrm>
                <a:off x="6358270" y="115009"/>
                <a:ext cx="0" cy="307494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接连接符 9"/>
              <p:cNvCxnSpPr/>
              <p:nvPr/>
            </p:nvCxnSpPr>
            <p:spPr>
              <a:xfrm>
                <a:off x="8006316" y="115009"/>
                <a:ext cx="0" cy="307494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连接符 10"/>
              <p:cNvCxnSpPr/>
              <p:nvPr/>
            </p:nvCxnSpPr>
            <p:spPr>
              <a:xfrm>
                <a:off x="9654362" y="115009"/>
                <a:ext cx="0" cy="307494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41" name="图形 4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3661" y="98896"/>
            <a:ext cx="1251222" cy="347019"/>
          </a:xfrm>
          <a:prstGeom prst="rect">
            <a:avLst/>
          </a:prstGeom>
        </p:spPr>
      </p:pic>
      <p:sp>
        <p:nvSpPr>
          <p:cNvPr id="74" name="文本框 73"/>
          <p:cNvSpPr txBox="1"/>
          <p:nvPr/>
        </p:nvSpPr>
        <p:spPr>
          <a:xfrm>
            <a:off x="382270" y="737235"/>
            <a:ext cx="5479415" cy="48704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noProof="0" dirty="0">
                <a:ln>
                  <a:noFill/>
                </a:ln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  <a:sym typeface="+mn-ea"/>
              </a:rPr>
              <a:t>RAG</a:t>
            </a:r>
            <a:r>
              <a:rPr lang="zh-CN" altLang="en-US" b="1" noProof="0" dirty="0">
                <a:ln>
                  <a:noFill/>
                </a:ln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  <a:sym typeface="+mn-ea"/>
              </a:rPr>
              <a:t>（</a:t>
            </a:r>
            <a:r>
              <a:rPr lang="en-US" altLang="zh-CN" b="1" noProof="0" dirty="0">
                <a:ln>
                  <a:noFill/>
                </a:ln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  <a:sym typeface="+mn-ea"/>
              </a:rPr>
              <a:t>Retrieval Augmented Generation，</a:t>
            </a:r>
            <a:r>
              <a:rPr lang="zh-CN" altLang="en-US" b="1" noProof="0" dirty="0">
                <a:ln>
                  <a:noFill/>
                </a:ln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  <a:sym typeface="+mn-ea"/>
              </a:rPr>
              <a:t>检索增强生成）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是一种通过从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ongti SC Bold" panose="02010800040101010101" charset="-122"/>
                <a:ea typeface="Songti SC Bold" panose="02010800040101010101" charset="-122"/>
                <a:cs typeface="Times New Roman Regular" panose="02020603050405020304" charset="0"/>
              </a:rPr>
              <a:t>外部知识库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检索信息来增强大型语言模型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 (LLM) 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输出的技术。</a:t>
            </a:r>
            <a:endParaRPr kumimoji="0" lang="zh-CN" altLang="en-US" sz="1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 Regular" panose="02020603050405020304" charset="0"/>
              <a:ea typeface="Songti SC Regular" panose="02010800040101010101" charset="-122"/>
              <a:cs typeface="Times New Roman Regular" panose="0202060305040502030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它首先根据用户提问找到相关资料，然后将这些资料与原始问题一同提供给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LLM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，从而生成更准确、更可靠、且基于最新事实的回答，有效减少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“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幻觉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”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并扩展模型知识。</a:t>
            </a:r>
            <a:endParaRPr kumimoji="0" lang="zh-CN" altLang="en-US" sz="1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 Regular" panose="02020603050405020304" charset="0"/>
              <a:ea typeface="Songti SC Regular" panose="02010800040101010101" charset="-122"/>
              <a:cs typeface="Times New Roman Regular" panose="0202060305040502030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 Regular" panose="02020603050405020304" charset="0"/>
              <a:ea typeface="Songti SC Regular" panose="02010800040101010101" charset="-122"/>
              <a:cs typeface="Times New Roman Regular" panose="0202060305040502030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完整的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RAG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应用流程主要包含两个阶段：</a:t>
            </a:r>
            <a:endParaRPr kumimoji="0" lang="zh-CN" altLang="en-US" sz="1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 Regular" panose="02020603050405020304" charset="0"/>
              <a:ea typeface="Songti SC Regular" panose="02010800040101010101" charset="-122"/>
              <a:cs typeface="Times New Roman Regular" panose="0202060305040502030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ongti SC Bold" panose="02010800040101010101" charset="-122"/>
                <a:ea typeface="Songti SC Bold" panose="02010800040101010101" charset="-122"/>
                <a:cs typeface="Times New Roman Regular" panose="02020603050405020304" charset="0"/>
              </a:rPr>
              <a:t>数据准备阶段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：数据提取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——&gt;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文本分割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——&gt;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向量化（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embedding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）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——&gt;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数据入库</a:t>
            </a:r>
            <a:endParaRPr kumimoji="0" lang="zh-CN" altLang="en-US" sz="1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 Regular" panose="02020603050405020304" charset="0"/>
              <a:ea typeface="Songti SC Regular" panose="02010800040101010101" charset="-122"/>
              <a:cs typeface="Times New Roman Regular" panose="0202060305040502030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ongti SC Bold" panose="02010800040101010101" charset="-122"/>
                <a:ea typeface="Songti SC Bold" panose="02010800040101010101" charset="-122"/>
                <a:cs typeface="Times New Roman Regular" panose="02020603050405020304" charset="0"/>
              </a:rPr>
              <a:t>应用阶段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：用户提问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——&gt;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数据检索（召回）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——&gt;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注入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Prompt——&gt;LLM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生成答案</a:t>
            </a:r>
            <a:endParaRPr kumimoji="0" lang="zh-CN" altLang="en-US" sz="1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 Regular" panose="02020603050405020304" charset="0"/>
              <a:ea typeface="Songti SC Regular" panose="02010800040101010101" charset="-122"/>
              <a:cs typeface="Times New Roman Regular" panose="02020603050405020304" charset="0"/>
            </a:endParaRPr>
          </a:p>
        </p:txBody>
      </p:sp>
      <p:pic>
        <p:nvPicPr>
          <p:cNvPr id="14" name="图片 13"/>
          <p:cNvPicPr/>
          <p:nvPr/>
        </p:nvPicPr>
        <p:blipFill>
          <a:blip r:embed="rId3"/>
          <a:stretch>
            <a:fillRect/>
          </a:stretch>
        </p:blipFill>
        <p:spPr>
          <a:xfrm>
            <a:off x="5989320" y="883920"/>
            <a:ext cx="5683250" cy="549021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8659416" y="76583"/>
            <a:ext cx="1200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MCP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扩展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3F87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" y="481263"/>
            <a:ext cx="12192000" cy="72000"/>
          </a:xfrm>
          <a:prstGeom prst="rect">
            <a:avLst/>
          </a:prstGeom>
          <a:solidFill>
            <a:srgbClr val="003F87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82090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5390436" y="63883"/>
            <a:ext cx="6047056" cy="381000"/>
            <a:chOff x="5390436" y="63883"/>
            <a:chExt cx="6047056" cy="381000"/>
          </a:xfrm>
        </p:grpSpPr>
        <p:sp>
          <p:nvSpPr>
            <p:cNvPr id="12" name="矩形 11"/>
            <p:cNvSpPr/>
            <p:nvPr/>
          </p:nvSpPr>
          <p:spPr>
            <a:xfrm>
              <a:off x="6959521" y="104027"/>
              <a:ext cx="1311305" cy="308804"/>
            </a:xfrm>
            <a:prstGeom prst="rect">
              <a:avLst/>
            </a:prstGeom>
            <a:solidFill>
              <a:srgbClr val="003F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7012861" y="63883"/>
              <a:ext cx="120015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RAG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系统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5390436" y="74043"/>
              <a:ext cx="125095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F87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核心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F87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技术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8659416" y="76583"/>
              <a:ext cx="120015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F87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MCP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F87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扩展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0306524" y="76583"/>
              <a:ext cx="1130968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F87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运行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F87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效果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endParaRPr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6791404" y="159486"/>
              <a:ext cx="3296092" cy="209852"/>
              <a:chOff x="6358270" y="115009"/>
              <a:chExt cx="3296092" cy="307494"/>
            </a:xfrm>
          </p:grpSpPr>
          <p:cxnSp>
            <p:nvCxnSpPr>
              <p:cNvPr id="9" name="直接连接符 8"/>
              <p:cNvCxnSpPr/>
              <p:nvPr/>
            </p:nvCxnSpPr>
            <p:spPr>
              <a:xfrm>
                <a:off x="6358270" y="115009"/>
                <a:ext cx="0" cy="307494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接连接符 9"/>
              <p:cNvCxnSpPr/>
              <p:nvPr/>
            </p:nvCxnSpPr>
            <p:spPr>
              <a:xfrm>
                <a:off x="8006316" y="115009"/>
                <a:ext cx="0" cy="307494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连接符 10"/>
              <p:cNvCxnSpPr/>
              <p:nvPr/>
            </p:nvCxnSpPr>
            <p:spPr>
              <a:xfrm>
                <a:off x="9654362" y="115009"/>
                <a:ext cx="0" cy="307494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41" name="图形 4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3661" y="98896"/>
            <a:ext cx="1251222" cy="347019"/>
          </a:xfrm>
          <a:prstGeom prst="rect">
            <a:avLst/>
          </a:prstGeom>
        </p:spPr>
      </p:pic>
      <p:sp>
        <p:nvSpPr>
          <p:cNvPr id="74" name="文本框 73"/>
          <p:cNvSpPr txBox="1"/>
          <p:nvPr/>
        </p:nvSpPr>
        <p:spPr>
          <a:xfrm>
            <a:off x="382270" y="737235"/>
            <a:ext cx="11054715" cy="5562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Times New Roman Regular" panose="02020603050405020304" charset="0"/>
              </a:rPr>
              <a:t>数据准备阶段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：</a:t>
            </a:r>
            <a:r>
              <a:rPr lang="zh-CN" altLang="en-US" b="1" noProof="0" dirty="0">
                <a:ln>
                  <a:noFill/>
                </a:ln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  <a:sym typeface="+mn-ea"/>
              </a:rPr>
              <a:t>数据提取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——&gt;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文本分割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——&gt;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向量化（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embedding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）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——&gt;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数据入库</a:t>
            </a:r>
            <a:endParaRPr kumimoji="0" lang="zh-CN" altLang="en-US" sz="1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 Regular" panose="02020603050405020304" charset="0"/>
              <a:ea typeface="Songti SC Regular" panose="02010800040101010101" charset="-122"/>
              <a:cs typeface="Times New Roman Regular" panose="0202060305040502030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从原始文档中提取内容，并按语义合理地切分成可检索的小段落。</a:t>
            </a:r>
            <a:endParaRPr kumimoji="0" lang="zh-CN" altLang="en-US" sz="1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 Regular" panose="02020603050405020304" charset="0"/>
              <a:ea typeface="Songti SC Regular" panose="02010800040101010101" charset="-122"/>
              <a:cs typeface="Times New Roman Regular" panose="0202060305040502030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 Regular" panose="02020603050405020304" charset="0"/>
              <a:ea typeface="Songti SC Regular" panose="02010800040101010101" charset="-122"/>
              <a:cs typeface="Times New Roman Regular" panose="0202060305040502030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 Regular" panose="02020603050405020304" charset="0"/>
              <a:ea typeface="Songti SC Regular" panose="02010800040101010101" charset="-122"/>
              <a:cs typeface="Times New Roman Regular" panose="02020603050405020304" charset="0"/>
            </a:endParaRPr>
          </a:p>
        </p:txBody>
      </p:sp>
      <p:pic>
        <p:nvPicPr>
          <p:cNvPr id="21" name="图片 20" descr="截屏2025-05-22 16.04.0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2500" y="1661160"/>
            <a:ext cx="7746365" cy="50012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" y="481263"/>
            <a:ext cx="12192000" cy="72000"/>
          </a:xfrm>
          <a:prstGeom prst="rect">
            <a:avLst/>
          </a:prstGeom>
          <a:solidFill>
            <a:srgbClr val="003F87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82090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5390436" y="63883"/>
            <a:ext cx="6047056" cy="381000"/>
            <a:chOff x="5390436" y="63883"/>
            <a:chExt cx="6047056" cy="381000"/>
          </a:xfrm>
        </p:grpSpPr>
        <p:sp>
          <p:nvSpPr>
            <p:cNvPr id="12" name="矩形 11"/>
            <p:cNvSpPr/>
            <p:nvPr/>
          </p:nvSpPr>
          <p:spPr>
            <a:xfrm>
              <a:off x="6959521" y="104027"/>
              <a:ext cx="1311305" cy="308804"/>
            </a:xfrm>
            <a:prstGeom prst="rect">
              <a:avLst/>
            </a:prstGeom>
            <a:solidFill>
              <a:srgbClr val="003F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7012861" y="63883"/>
              <a:ext cx="120015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RAG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系统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5390436" y="74043"/>
              <a:ext cx="125095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F87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核心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F87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技术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8659416" y="76583"/>
              <a:ext cx="120015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F87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MCP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F87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扩展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0306524" y="76583"/>
              <a:ext cx="1130968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F87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运行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F87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效果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endParaRPr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6791404" y="159486"/>
              <a:ext cx="3296092" cy="209852"/>
              <a:chOff x="6358270" y="115009"/>
              <a:chExt cx="3296092" cy="307494"/>
            </a:xfrm>
          </p:grpSpPr>
          <p:cxnSp>
            <p:nvCxnSpPr>
              <p:cNvPr id="9" name="直接连接符 8"/>
              <p:cNvCxnSpPr/>
              <p:nvPr/>
            </p:nvCxnSpPr>
            <p:spPr>
              <a:xfrm>
                <a:off x="6358270" y="115009"/>
                <a:ext cx="0" cy="307494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接连接符 9"/>
              <p:cNvCxnSpPr/>
              <p:nvPr/>
            </p:nvCxnSpPr>
            <p:spPr>
              <a:xfrm>
                <a:off x="8006316" y="115009"/>
                <a:ext cx="0" cy="307494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连接符 10"/>
              <p:cNvCxnSpPr/>
              <p:nvPr/>
            </p:nvCxnSpPr>
            <p:spPr>
              <a:xfrm>
                <a:off x="9654362" y="115009"/>
                <a:ext cx="0" cy="307494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41" name="图形 4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3661" y="98896"/>
            <a:ext cx="1251222" cy="347019"/>
          </a:xfrm>
          <a:prstGeom prst="rect">
            <a:avLst/>
          </a:prstGeom>
        </p:spPr>
      </p:pic>
      <p:sp>
        <p:nvSpPr>
          <p:cNvPr id="74" name="文本框 73"/>
          <p:cNvSpPr txBox="1"/>
          <p:nvPr/>
        </p:nvSpPr>
        <p:spPr>
          <a:xfrm>
            <a:off x="382270" y="737235"/>
            <a:ext cx="11054715" cy="9302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Times New Roman Regular" panose="02020603050405020304" charset="0"/>
              </a:rPr>
              <a:t>数据准备阶段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：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  <a:sym typeface="+mn-ea"/>
              </a:rPr>
              <a:t>数据提取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——&gt;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文本分割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——&gt;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向量化（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embedding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）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——&gt;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数据入库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 Regular" panose="02020603050405020304" charset="0"/>
              <a:ea typeface="Songti SC Regular" panose="02010800040101010101" charset="-122"/>
              <a:cs typeface="Times New Roman Regular" panose="0202060305040502030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将分段文本转换为向量表示，并存入向量数据库以支持后续高效检索。</a:t>
            </a:r>
            <a:endParaRPr kumimoji="0" lang="zh-CN" altLang="en-US" sz="1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 Regular" panose="02020603050405020304" charset="0"/>
              <a:ea typeface="Songti SC Regular" panose="02010800040101010101" charset="-122"/>
              <a:cs typeface="Times New Roman Regular" panose="0202060305040502030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 Regular" panose="02020603050405020304" charset="0"/>
              <a:ea typeface="Songti SC Regular" panose="02010800040101010101" charset="-122"/>
              <a:cs typeface="Times New Roman Regular" panose="0202060305040502030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 Regular" panose="02020603050405020304" charset="0"/>
              <a:ea typeface="Songti SC Regular" panose="02010800040101010101" charset="-122"/>
              <a:cs typeface="Times New Roman Regular" panose="0202060305040502030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 Regular" panose="02020603050405020304" charset="0"/>
              <a:ea typeface="Songti SC Regular" panose="02010800040101010101" charset="-122"/>
              <a:cs typeface="Times New Roman Regular" panose="0202060305040502030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 Regular" panose="02020603050405020304" charset="0"/>
              <a:ea typeface="Songti SC Regular" panose="02010800040101010101" charset="-122"/>
              <a:cs typeface="Times New Roman Regular" panose="02020603050405020304" charset="0"/>
            </a:endParaRPr>
          </a:p>
        </p:txBody>
      </p:sp>
      <p:pic>
        <p:nvPicPr>
          <p:cNvPr id="15" name="图片 14" descr="截屏2025-05-22 16.05.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290" y="1667510"/>
            <a:ext cx="5613400" cy="47085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" y="481263"/>
            <a:ext cx="12192000" cy="72000"/>
          </a:xfrm>
          <a:prstGeom prst="rect">
            <a:avLst/>
          </a:prstGeom>
          <a:solidFill>
            <a:srgbClr val="003F87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82090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5390436" y="63883"/>
            <a:ext cx="6047056" cy="381000"/>
            <a:chOff x="5390436" y="63883"/>
            <a:chExt cx="6047056" cy="381000"/>
          </a:xfrm>
        </p:grpSpPr>
        <p:sp>
          <p:nvSpPr>
            <p:cNvPr id="12" name="矩形 11"/>
            <p:cNvSpPr/>
            <p:nvPr/>
          </p:nvSpPr>
          <p:spPr>
            <a:xfrm>
              <a:off x="6959521" y="104027"/>
              <a:ext cx="1311305" cy="308804"/>
            </a:xfrm>
            <a:prstGeom prst="rect">
              <a:avLst/>
            </a:prstGeom>
            <a:solidFill>
              <a:srgbClr val="003F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7012861" y="63883"/>
              <a:ext cx="120015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RAG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系统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5390436" y="74043"/>
              <a:ext cx="125095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F87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核心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F87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技术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8659416" y="76583"/>
              <a:ext cx="120015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F87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MCP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F87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扩展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0306524" y="76583"/>
              <a:ext cx="1130968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F87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运行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F87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效果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endParaRPr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6791404" y="159486"/>
              <a:ext cx="3296092" cy="209852"/>
              <a:chOff x="6358270" y="115009"/>
              <a:chExt cx="3296092" cy="307494"/>
            </a:xfrm>
          </p:grpSpPr>
          <p:cxnSp>
            <p:nvCxnSpPr>
              <p:cNvPr id="9" name="直接连接符 8"/>
              <p:cNvCxnSpPr/>
              <p:nvPr/>
            </p:nvCxnSpPr>
            <p:spPr>
              <a:xfrm>
                <a:off x="6358270" y="115009"/>
                <a:ext cx="0" cy="307494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接连接符 9"/>
              <p:cNvCxnSpPr/>
              <p:nvPr/>
            </p:nvCxnSpPr>
            <p:spPr>
              <a:xfrm>
                <a:off x="8006316" y="115009"/>
                <a:ext cx="0" cy="307494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连接符 10"/>
              <p:cNvCxnSpPr/>
              <p:nvPr/>
            </p:nvCxnSpPr>
            <p:spPr>
              <a:xfrm>
                <a:off x="9654362" y="115009"/>
                <a:ext cx="0" cy="307494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41" name="图形 4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3661" y="98896"/>
            <a:ext cx="1251222" cy="347019"/>
          </a:xfrm>
          <a:prstGeom prst="rect">
            <a:avLst/>
          </a:prstGeom>
        </p:spPr>
      </p:pic>
      <p:sp>
        <p:nvSpPr>
          <p:cNvPr id="74" name="文本框 73"/>
          <p:cNvSpPr txBox="1"/>
          <p:nvPr/>
        </p:nvSpPr>
        <p:spPr>
          <a:xfrm>
            <a:off x="382270" y="737235"/>
            <a:ext cx="11054715" cy="12223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noProof="0" dirty="0">
                <a:ln>
                  <a:noFill/>
                </a:ln>
                <a:effectLst/>
                <a:uLnTx/>
                <a:uFillTx/>
                <a:latin typeface="Songti SC Bold" panose="02010800040101010101" charset="-122"/>
                <a:ea typeface="Songti SC Bold" panose="02010800040101010101" charset="-122"/>
                <a:cs typeface="Times New Roman Regular" panose="02020603050405020304" charset="0"/>
                <a:sym typeface="+mn-ea"/>
              </a:rPr>
              <a:t>应用阶段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  <a:sym typeface="+mn-ea"/>
              </a:rPr>
              <a:t>：用户提问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  <a:sym typeface="+mn-ea"/>
              </a:rPr>
              <a:t>——&gt;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  <a:sym typeface="+mn-ea"/>
              </a:rPr>
              <a:t>数据检索（召回）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  <a:sym typeface="+mn-ea"/>
              </a:rPr>
              <a:t>——&gt;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  <a:sym typeface="+mn-ea"/>
              </a:rPr>
              <a:t>注入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  <a:sym typeface="+mn-ea"/>
              </a:rPr>
              <a:t>Prompt——&gt;LLM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  <a:sym typeface="+mn-ea"/>
              </a:rPr>
              <a:t>生成答案</a:t>
            </a:r>
            <a:endParaRPr lang="zh-CN" altLang="en-US" noProof="0" dirty="0">
              <a:ln>
                <a:noFill/>
              </a:ln>
              <a:effectLst/>
              <a:uLnTx/>
              <a:uFillTx/>
              <a:latin typeface="Times New Roman Regular" panose="02020603050405020304" charset="0"/>
              <a:ea typeface="Songti SC Regular" panose="02010800040101010101" charset="-122"/>
              <a:cs typeface="Times New Roman Regular" panose="02020603050405020304" charset="0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创建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rag_tool，agent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可以调用该工具在向量数据库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中进行检索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。</a:t>
            </a:r>
            <a:endParaRPr kumimoji="0" lang="en-US" altLang="zh-CN" sz="1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 Regular" panose="02020603050405020304" charset="0"/>
              <a:ea typeface="Songti SC Regular" panose="02010800040101010101" charset="-122"/>
              <a:cs typeface="Times New Roman Regular" panose="0202060305040502030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0293350" y="52247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pic>
        <p:nvPicPr>
          <p:cNvPr id="17" name="图片 16" descr="截屏2025-05-22 16.33.37"/>
          <p:cNvPicPr>
            <a:picLocks noChangeAspect="1"/>
          </p:cNvPicPr>
          <p:nvPr/>
        </p:nvPicPr>
        <p:blipFill>
          <a:blip r:embed="rId3"/>
          <a:srcRect t="976"/>
          <a:stretch>
            <a:fillRect/>
          </a:stretch>
        </p:blipFill>
        <p:spPr>
          <a:xfrm>
            <a:off x="1892300" y="1634490"/>
            <a:ext cx="8414385" cy="48990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" y="481263"/>
            <a:ext cx="12192000" cy="72000"/>
          </a:xfrm>
          <a:prstGeom prst="rect">
            <a:avLst/>
          </a:prstGeom>
          <a:solidFill>
            <a:srgbClr val="003F87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82090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5390436" y="63883"/>
            <a:ext cx="6047056" cy="381000"/>
            <a:chOff x="5390436" y="63883"/>
            <a:chExt cx="6047056" cy="381000"/>
          </a:xfrm>
        </p:grpSpPr>
        <p:sp>
          <p:nvSpPr>
            <p:cNvPr id="12" name="矩形 11"/>
            <p:cNvSpPr/>
            <p:nvPr/>
          </p:nvSpPr>
          <p:spPr>
            <a:xfrm>
              <a:off x="6959521" y="104027"/>
              <a:ext cx="1311305" cy="308804"/>
            </a:xfrm>
            <a:prstGeom prst="rect">
              <a:avLst/>
            </a:prstGeom>
            <a:solidFill>
              <a:srgbClr val="003F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7012861" y="63883"/>
              <a:ext cx="120015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RAG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系统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5390436" y="74043"/>
              <a:ext cx="125095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F87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核心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F87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技术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8659416" y="76583"/>
              <a:ext cx="120015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F87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MCP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F87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扩展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0306524" y="76583"/>
              <a:ext cx="1130968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F87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运行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F87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效果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endParaRPr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6791404" y="159486"/>
              <a:ext cx="3296092" cy="209852"/>
              <a:chOff x="6358270" y="115009"/>
              <a:chExt cx="3296092" cy="307494"/>
            </a:xfrm>
          </p:grpSpPr>
          <p:cxnSp>
            <p:nvCxnSpPr>
              <p:cNvPr id="9" name="直接连接符 8"/>
              <p:cNvCxnSpPr/>
              <p:nvPr/>
            </p:nvCxnSpPr>
            <p:spPr>
              <a:xfrm>
                <a:off x="6358270" y="115009"/>
                <a:ext cx="0" cy="307494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接连接符 9"/>
              <p:cNvCxnSpPr/>
              <p:nvPr/>
            </p:nvCxnSpPr>
            <p:spPr>
              <a:xfrm>
                <a:off x="8006316" y="115009"/>
                <a:ext cx="0" cy="307494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连接符 10"/>
              <p:cNvCxnSpPr/>
              <p:nvPr/>
            </p:nvCxnSpPr>
            <p:spPr>
              <a:xfrm>
                <a:off x="9654362" y="115009"/>
                <a:ext cx="0" cy="307494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41" name="图形 4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3661" y="98896"/>
            <a:ext cx="1251222" cy="347019"/>
          </a:xfrm>
          <a:prstGeom prst="rect">
            <a:avLst/>
          </a:prstGeom>
        </p:spPr>
      </p:pic>
      <p:sp>
        <p:nvSpPr>
          <p:cNvPr id="74" name="文本框 73"/>
          <p:cNvSpPr txBox="1"/>
          <p:nvPr/>
        </p:nvSpPr>
        <p:spPr>
          <a:xfrm>
            <a:off x="382270" y="737235"/>
            <a:ext cx="11054715" cy="59264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noProof="0" dirty="0">
                <a:ln>
                  <a:noFill/>
                </a:ln>
                <a:effectLst/>
                <a:uLnTx/>
                <a:uFillTx/>
                <a:latin typeface="Songti SC Bold" panose="02010800040101010101" charset="-122"/>
                <a:ea typeface="Songti SC Bold" panose="02010800040101010101" charset="-122"/>
                <a:cs typeface="Times New Roman Regular" panose="02020603050405020304" charset="0"/>
                <a:sym typeface="+mn-ea"/>
              </a:rPr>
              <a:t>应用阶段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  <a:sym typeface="+mn-ea"/>
              </a:rPr>
              <a:t>：</a:t>
            </a:r>
            <a:r>
              <a:rPr lang="zh-CN" altLang="en-US" b="1" noProof="0" dirty="0">
                <a:ln>
                  <a:noFill/>
                </a:ln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  <a:sym typeface="+mn-ea"/>
              </a:rPr>
              <a:t>用户提问</a:t>
            </a:r>
            <a:r>
              <a:rPr lang="en-US" altLang="zh-CN" b="1" noProof="0" dirty="0">
                <a:ln>
                  <a:noFill/>
                </a:ln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  <a:sym typeface="+mn-ea"/>
              </a:rPr>
              <a:t>——&gt;</a:t>
            </a:r>
            <a:r>
              <a:rPr lang="zh-CN" altLang="en-US" b="1" noProof="0" dirty="0">
                <a:ln>
                  <a:noFill/>
                </a:ln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  <a:sym typeface="+mn-ea"/>
              </a:rPr>
              <a:t>数据检索（召回）</a:t>
            </a:r>
            <a:r>
              <a:rPr lang="en-US" altLang="zh-CN" b="1" noProof="0" dirty="0">
                <a:ln>
                  <a:noFill/>
                </a:ln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  <a:sym typeface="+mn-ea"/>
              </a:rPr>
              <a:t>——&gt;</a:t>
            </a:r>
            <a:r>
              <a:rPr lang="zh-CN" altLang="en-US" b="1" noProof="0" dirty="0">
                <a:ln>
                  <a:noFill/>
                </a:ln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  <a:sym typeface="+mn-ea"/>
              </a:rPr>
              <a:t>注入</a:t>
            </a:r>
            <a:r>
              <a:rPr lang="en-US" altLang="zh-CN" b="1" noProof="0" dirty="0">
                <a:ln>
                  <a:noFill/>
                </a:ln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  <a:sym typeface="+mn-ea"/>
              </a:rPr>
              <a:t>Prompt——&gt;LLM</a:t>
            </a:r>
            <a:r>
              <a:rPr lang="zh-CN" altLang="en-US" b="1" noProof="0" dirty="0">
                <a:ln>
                  <a:noFill/>
                </a:ln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  <a:sym typeface="+mn-ea"/>
              </a:rPr>
              <a:t>生成答案</a:t>
            </a:r>
            <a:endParaRPr lang="zh-CN" altLang="en-US" b="1" noProof="0" dirty="0">
              <a:ln>
                <a:noFill/>
              </a:ln>
              <a:effectLst/>
              <a:uLnTx/>
              <a:uFillTx/>
              <a:latin typeface="Times New Roman Regular" panose="02020603050405020304" charset="0"/>
              <a:ea typeface="Songti SC Regular" panose="02010800040101010101" charset="-122"/>
              <a:cs typeface="Times New Roman Regular" panose="02020603050405020304" charset="0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在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ask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对话主函数中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，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构建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RAG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智能体以调用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RAG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工具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。</a:t>
            </a:r>
            <a:endParaRPr kumimoji="0" lang="en-US" altLang="zh-CN" sz="1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 Regular" panose="02020603050405020304" charset="0"/>
              <a:ea typeface="Songti SC Regular" panose="02010800040101010101" charset="-122"/>
              <a:cs typeface="Times New Roman Regular" panose="0202060305040502030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 Regular" panose="02020603050405020304" charset="0"/>
              <a:ea typeface="Songti SC Regular" panose="02010800040101010101" charset="-122"/>
              <a:cs typeface="Times New Roman Regular" panose="0202060305040502030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 Regular" panose="02020603050405020304" charset="0"/>
              <a:ea typeface="Songti SC Regular" panose="02010800040101010101" charset="-122"/>
              <a:cs typeface="Times New Roman Regular" panose="0202060305040502030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 Regular" panose="02020603050405020304" charset="0"/>
              <a:ea typeface="Songti SC Regular" panose="02010800040101010101" charset="-122"/>
              <a:cs typeface="Times New Roman Regular" panose="0202060305040502030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 Regular" panose="02020603050405020304" charset="0"/>
              <a:ea typeface="Songti SC Regular" panose="02010800040101010101" charset="-122"/>
              <a:cs typeface="Times New Roman Regular" panose="0202060305040502030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 Regular" panose="02020603050405020304" charset="0"/>
              <a:ea typeface="Songti SC Regular" panose="02010800040101010101" charset="-122"/>
              <a:cs typeface="Times New Roman Regular" panose="0202060305040502030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 Regular" panose="02020603050405020304" charset="0"/>
              <a:ea typeface="Songti SC Regular" panose="02010800040101010101" charset="-122"/>
              <a:cs typeface="Times New Roman Regular" panose="0202060305040502030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输出结果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（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部分截图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）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中可以看到人类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、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智能体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、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工具的交互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</a:rPr>
              <a:t>。</a:t>
            </a:r>
            <a:endParaRPr kumimoji="0" lang="zh-CN" altLang="en-US" sz="1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 Regular" panose="02020603050405020304" charset="0"/>
              <a:ea typeface="Songti SC Regular" panose="02010800040101010101" charset="-122"/>
              <a:cs typeface="Times New Roman Regular" panose="0202060305040502030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 Regular" panose="02020603050405020304" charset="0"/>
              <a:ea typeface="Songti SC Regular" panose="02010800040101010101" charset="-122"/>
              <a:cs typeface="Times New Roman Regular" panose="0202060305040502030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0293350" y="52247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pic>
        <p:nvPicPr>
          <p:cNvPr id="18" name="图片 17" descr="截屏2025-05-22 16.34.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740" y="1525905"/>
            <a:ext cx="8479155" cy="2124710"/>
          </a:xfrm>
          <a:prstGeom prst="rect">
            <a:avLst/>
          </a:prstGeom>
        </p:spPr>
      </p:pic>
      <p:pic>
        <p:nvPicPr>
          <p:cNvPr id="20" name="图片 19" descr="截屏2025-05-22 16.37.0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290" y="4099560"/>
            <a:ext cx="10440035" cy="7969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803775" y="2785110"/>
            <a:ext cx="5003800" cy="12877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b="1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>
                <a:solidFill>
                  <a:schemeClr val="tx1"/>
                </a:solidFill>
              </a:rPr>
              <a:t>MCP</a:t>
            </a:r>
            <a:r>
              <a:rPr lang="zh-CN" altLang="en-US">
                <a:solidFill>
                  <a:schemeClr val="tx1"/>
                </a:solidFill>
              </a:rPr>
              <a:t>扩展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3209925" y="2363470"/>
            <a:ext cx="2129790" cy="2129790"/>
          </a:xfrm>
          <a:prstGeom prst="ellipse">
            <a:avLst/>
          </a:prstGeom>
          <a:gradFill>
            <a:gsLst>
              <a:gs pos="0">
                <a:srgbClr val="012D86">
                  <a:alpha val="72000"/>
                </a:srgbClr>
              </a:gs>
              <a:gs pos="100000">
                <a:srgbClr val="0E2557"/>
              </a:gs>
            </a:gsLst>
            <a:lin ang="5400000" scaled="0"/>
          </a:gra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865563" y="2644140"/>
            <a:ext cx="861060" cy="156845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altLang="zh-CN" sz="9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sym typeface="+mn-ea"/>
              </a:rPr>
              <a:t>3</a:t>
            </a:r>
            <a:endParaRPr lang="en-US" altLang="zh-CN" sz="96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" y="481263"/>
            <a:ext cx="12192000" cy="72000"/>
          </a:xfrm>
          <a:prstGeom prst="rect">
            <a:avLst/>
          </a:prstGeom>
          <a:solidFill>
            <a:srgbClr val="003F87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82090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5390436" y="74043"/>
            <a:ext cx="6047056" cy="370840"/>
            <a:chOff x="5390436" y="74043"/>
            <a:chExt cx="6047056" cy="370840"/>
          </a:xfrm>
        </p:grpSpPr>
        <p:sp>
          <p:nvSpPr>
            <p:cNvPr id="5" name="文本框 4"/>
            <p:cNvSpPr txBox="1"/>
            <p:nvPr/>
          </p:nvSpPr>
          <p:spPr>
            <a:xfrm>
              <a:off x="5390436" y="74043"/>
              <a:ext cx="125095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F87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核心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F87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技术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0306524" y="76583"/>
              <a:ext cx="1130968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F87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运行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F87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效果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endParaRPr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6791404" y="159486"/>
              <a:ext cx="3296092" cy="209852"/>
              <a:chOff x="6358270" y="115009"/>
              <a:chExt cx="3296092" cy="307494"/>
            </a:xfrm>
          </p:grpSpPr>
          <p:cxnSp>
            <p:nvCxnSpPr>
              <p:cNvPr id="9" name="直接连接符 8"/>
              <p:cNvCxnSpPr/>
              <p:nvPr/>
            </p:nvCxnSpPr>
            <p:spPr>
              <a:xfrm>
                <a:off x="6358270" y="115009"/>
                <a:ext cx="0" cy="307494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接连接符 9"/>
              <p:cNvCxnSpPr/>
              <p:nvPr/>
            </p:nvCxnSpPr>
            <p:spPr>
              <a:xfrm>
                <a:off x="8006316" y="115009"/>
                <a:ext cx="0" cy="307494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连接符 10"/>
              <p:cNvCxnSpPr/>
              <p:nvPr/>
            </p:nvCxnSpPr>
            <p:spPr>
              <a:xfrm>
                <a:off x="9654362" y="115009"/>
                <a:ext cx="0" cy="307494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41" name="图形 4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3661" y="98896"/>
            <a:ext cx="1251222" cy="347019"/>
          </a:xfrm>
          <a:prstGeom prst="rect">
            <a:avLst/>
          </a:prstGeom>
        </p:spPr>
      </p:pic>
      <p:sp>
        <p:nvSpPr>
          <p:cNvPr id="74" name="文本框 73"/>
          <p:cNvSpPr txBox="1"/>
          <p:nvPr/>
        </p:nvSpPr>
        <p:spPr>
          <a:xfrm>
            <a:off x="382270" y="737235"/>
            <a:ext cx="11054715" cy="29622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 Regular" panose="02020603050405020304" charset="0"/>
              <a:ea typeface="Songti SC Regular" panose="02010800040101010101" charset="-122"/>
              <a:cs typeface="Times New Roman Regular" panose="0202060305040502030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0293350" y="52247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8584486" y="104027"/>
            <a:ext cx="1311305" cy="308804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637826" y="63883"/>
            <a:ext cx="1200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MCP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扩展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990001" y="74043"/>
            <a:ext cx="12509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RAG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系统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3F87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82270" y="737235"/>
            <a:ext cx="11054715" cy="59264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RAG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系统能够同时利用</a:t>
            </a:r>
            <a:r>
              <a:rPr lang="zh-CN" altLang="en-US" b="1" noProof="0" dirty="0">
                <a:ln>
                  <a:noFill/>
                </a:ln>
                <a:effectLst/>
                <a:uLnTx/>
                <a:uFillTx/>
                <a:latin typeface="Songti SC Bold" panose="02010800040101010101" charset="-122"/>
                <a:ea typeface="Songti SC Bold" panose="02010800040101010101" charset="-122"/>
                <a:cs typeface="Songti SC" panose="02010800040101010101" charset="-122"/>
                <a:sym typeface="+mn-ea"/>
              </a:rPr>
              <a:t>大语言模型本身的知识和外部知识库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得出答案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，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但还有改进之处🤔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：</a:t>
            </a:r>
            <a:endParaRPr lang="zh-CN" altLang="en-US" noProof="0" dirty="0">
              <a:ln>
                <a:noFill/>
              </a:ln>
              <a:effectLst/>
              <a:uLnTx/>
              <a:uFillTx/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1. 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用户问题涉及最新事件，而大语言模型的训练语料和本地知识库并未覆盖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。</a:t>
            </a:r>
            <a:endParaRPr lang="zh-CN" altLang="en-US" noProof="0" dirty="0">
              <a:ln>
                <a:noFill/>
              </a:ln>
              <a:effectLst/>
              <a:uLnTx/>
              <a:uFillTx/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2. 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用户需要将在线知识（如论文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、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博客等）保存在本地知识库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。</a:t>
            </a:r>
            <a:endParaRPr lang="zh-CN" altLang="en-US" noProof="0" dirty="0">
              <a:ln>
                <a:noFill/>
              </a:ln>
              <a:effectLst/>
              <a:uLnTx/>
              <a:uFillTx/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3. 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用户需要在本地知识库中寻找对应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的参考资料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。</a:t>
            </a:r>
            <a:endParaRPr lang="en-US" altLang="zh-CN" noProof="0" dirty="0">
              <a:ln>
                <a:noFill/>
              </a:ln>
              <a:effectLst/>
              <a:uLnTx/>
              <a:uFillTx/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noProof="0" dirty="0">
              <a:ln>
                <a:noFill/>
              </a:ln>
              <a:effectLst/>
              <a:uLnTx/>
              <a:uFillTx/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使用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MCP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可以方便地调用外部工具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，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无需手动实现适配于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LangChain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的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Tool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类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。</a:t>
            </a:r>
            <a:endParaRPr lang="en-US" altLang="zh-CN" noProof="0" dirty="0">
              <a:ln>
                <a:noFill/>
              </a:ln>
              <a:effectLst/>
              <a:uLnTx/>
              <a:uFillTx/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以上这三点需求可以分别通过</a:t>
            </a:r>
            <a:r>
              <a:rPr lang="en-US" altLang="zh-CN" b="1" noProof="0" dirty="0">
                <a:ln>
                  <a:noFill/>
                </a:ln>
                <a:effectLst/>
                <a:uLnTx/>
                <a:uFillTx/>
                <a:latin typeface="Songti SC Bold" panose="02010800040101010101" charset="-122"/>
                <a:ea typeface="Songti SC Bold" panose="02010800040101010101" charset="-122"/>
                <a:cs typeface="Songti SC Bold" panose="02010800040101010101" charset="-122"/>
                <a:sym typeface="+mn-ea"/>
              </a:rPr>
              <a:t>Tavily、Fetch、Filesystem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这三个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MCP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模块实现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。</a:t>
            </a:r>
            <a:endParaRPr lang="en-US" altLang="zh-CN" noProof="0" dirty="0">
              <a:ln>
                <a:noFill/>
              </a:ln>
              <a:effectLst/>
              <a:uLnTx/>
              <a:uFillTx/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noProof="0" dirty="0">
              <a:ln>
                <a:noFill/>
              </a:ln>
              <a:effectLst/>
              <a:uLnTx/>
              <a:uFillTx/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- </a:t>
            </a:r>
            <a:r>
              <a:rPr lang="en-US" altLang="zh-CN" b="1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Tavily (</a:t>
            </a:r>
            <a:r>
              <a:rPr lang="zh-CN" altLang="en-US" b="1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网络搜索</a:t>
            </a:r>
            <a:r>
              <a:rPr lang="en-US" altLang="zh-CN" b="1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) </a:t>
            </a:r>
            <a:r>
              <a:rPr lang="zh-CN" altLang="en-US" b="1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🌐</a:t>
            </a:r>
            <a:r>
              <a:rPr lang="en-US" altLang="zh-CN" b="1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：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提供专为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AI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优化的网络搜索服务，高效检索并整合实时在线信息。</a:t>
            </a:r>
            <a:endParaRPr lang="zh-CN" altLang="en-US" noProof="0" dirty="0">
              <a:ln>
                <a:noFill/>
              </a:ln>
              <a:effectLst/>
              <a:uLnTx/>
              <a:uFillTx/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- </a:t>
            </a:r>
            <a:r>
              <a:rPr lang="en-US" altLang="zh-CN" b="1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Fetch (</a:t>
            </a:r>
            <a:r>
              <a:rPr lang="zh-CN" altLang="en-US" b="1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内容抓取</a:t>
            </a:r>
            <a:r>
              <a:rPr lang="en-US" altLang="zh-CN" b="1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) </a:t>
            </a:r>
            <a:r>
              <a:rPr lang="zh-CN" altLang="en-US" b="1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📄</a:t>
            </a:r>
            <a:r>
              <a:rPr lang="en-US" altLang="zh-CN" b="1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：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从指定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URL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（网页、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PDF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）精准提取核心文本内容，供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AI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进一步分析与处理。</a:t>
            </a:r>
            <a:endParaRPr lang="zh-CN" altLang="en-US" noProof="0" dirty="0">
              <a:ln>
                <a:noFill/>
              </a:ln>
              <a:effectLst/>
              <a:uLnTx/>
              <a:uFillTx/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- </a:t>
            </a:r>
            <a:r>
              <a:rPr lang="en-US" altLang="zh-CN" b="1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Filesystem (</a:t>
            </a:r>
            <a:r>
              <a:rPr lang="zh-CN" altLang="en-US" b="1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文件系统</a:t>
            </a:r>
            <a:r>
              <a:rPr lang="en-US" altLang="zh-CN" b="1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) </a:t>
            </a:r>
            <a:r>
              <a:rPr lang="zh-CN" altLang="en-US" b="1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💾</a:t>
            </a:r>
            <a:r>
              <a:rPr lang="en-US" altLang="zh-CN" b="1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：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实现对本地授权目录的安全访问，支持文件与目录的自动化读写及管理操作。</a:t>
            </a:r>
            <a:endParaRPr lang="zh-CN" altLang="en-US" noProof="0" dirty="0">
              <a:ln>
                <a:noFill/>
              </a:ln>
              <a:effectLst/>
              <a:uLnTx/>
              <a:uFillTx/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" y="481263"/>
            <a:ext cx="12192000" cy="72000"/>
          </a:xfrm>
          <a:prstGeom prst="rect">
            <a:avLst/>
          </a:prstGeom>
          <a:solidFill>
            <a:srgbClr val="003F87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82090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5390436" y="74043"/>
            <a:ext cx="6047056" cy="370840"/>
            <a:chOff x="5390436" y="74043"/>
            <a:chExt cx="6047056" cy="370840"/>
          </a:xfrm>
        </p:grpSpPr>
        <p:sp>
          <p:nvSpPr>
            <p:cNvPr id="5" name="文本框 4"/>
            <p:cNvSpPr txBox="1"/>
            <p:nvPr/>
          </p:nvSpPr>
          <p:spPr>
            <a:xfrm>
              <a:off x="5390436" y="74043"/>
              <a:ext cx="125095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F87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核心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F87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技术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0306524" y="76583"/>
              <a:ext cx="1130968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F87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运行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F87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效果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endParaRPr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6791404" y="159486"/>
              <a:ext cx="3296092" cy="209852"/>
              <a:chOff x="6358270" y="115009"/>
              <a:chExt cx="3296092" cy="307494"/>
            </a:xfrm>
          </p:grpSpPr>
          <p:cxnSp>
            <p:nvCxnSpPr>
              <p:cNvPr id="9" name="直接连接符 8"/>
              <p:cNvCxnSpPr/>
              <p:nvPr/>
            </p:nvCxnSpPr>
            <p:spPr>
              <a:xfrm>
                <a:off x="6358270" y="115009"/>
                <a:ext cx="0" cy="307494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接连接符 9"/>
              <p:cNvCxnSpPr/>
              <p:nvPr/>
            </p:nvCxnSpPr>
            <p:spPr>
              <a:xfrm>
                <a:off x="8006316" y="115009"/>
                <a:ext cx="0" cy="307494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连接符 10"/>
              <p:cNvCxnSpPr/>
              <p:nvPr/>
            </p:nvCxnSpPr>
            <p:spPr>
              <a:xfrm>
                <a:off x="9654362" y="115009"/>
                <a:ext cx="0" cy="307494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41" name="图形 4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3661" y="98896"/>
            <a:ext cx="1251222" cy="347019"/>
          </a:xfrm>
          <a:prstGeom prst="rect">
            <a:avLst/>
          </a:prstGeom>
        </p:spPr>
      </p:pic>
      <p:sp>
        <p:nvSpPr>
          <p:cNvPr id="74" name="文本框 73"/>
          <p:cNvSpPr txBox="1"/>
          <p:nvPr/>
        </p:nvSpPr>
        <p:spPr>
          <a:xfrm>
            <a:off x="382270" y="737235"/>
            <a:ext cx="11054715" cy="29622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 Regular" panose="02020603050405020304" charset="0"/>
              <a:ea typeface="Songti SC Regular" panose="02010800040101010101" charset="-122"/>
              <a:cs typeface="Times New Roman Regular" panose="0202060305040502030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0293350" y="52247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8584486" y="104027"/>
            <a:ext cx="1311305" cy="308804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637826" y="63883"/>
            <a:ext cx="1200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MCP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扩展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990001" y="74043"/>
            <a:ext cx="12509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RAG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系统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3F87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82270" y="737235"/>
            <a:ext cx="4207510" cy="55143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通过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FastMCP，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我们可以自己手写函数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，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构建自己的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MCP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模块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。</a:t>
            </a:r>
            <a:endParaRPr lang="en-US" altLang="zh-CN" noProof="0" dirty="0">
              <a:ln>
                <a:noFill/>
              </a:ln>
              <a:effectLst/>
              <a:uLnTx/>
              <a:uFillTx/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noProof="0" dirty="0">
              <a:ln>
                <a:noFill/>
              </a:ln>
              <a:effectLst/>
              <a:uLnTx/>
              <a:uFillTx/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案例中手动构建了一个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Tavily MCP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模块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，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将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Tavily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搜索能力封装为独立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MCP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工具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。</a:t>
            </a:r>
            <a:endParaRPr lang="en-US" altLang="zh-CN" noProof="0" dirty="0">
              <a:ln>
                <a:noFill/>
              </a:ln>
              <a:effectLst/>
              <a:uLnTx/>
              <a:uFillTx/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noProof="0" dirty="0">
              <a:ln>
                <a:noFill/>
              </a:ln>
              <a:effectLst/>
              <a:uLnTx/>
              <a:uFillTx/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noProof="0" dirty="0">
              <a:ln>
                <a:noFill/>
              </a:ln>
              <a:effectLst/>
              <a:uLnTx/>
              <a:uFillTx/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+mn-ea"/>
            </a:endParaRPr>
          </a:p>
        </p:txBody>
      </p:sp>
      <p:pic>
        <p:nvPicPr>
          <p:cNvPr id="4" name="图片 3" descr="截屏2025-05-22 20.25.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9070" y="863600"/>
            <a:ext cx="6177915" cy="55892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" y="481263"/>
            <a:ext cx="12192000" cy="72000"/>
          </a:xfrm>
          <a:prstGeom prst="rect">
            <a:avLst/>
          </a:prstGeom>
          <a:solidFill>
            <a:srgbClr val="003F87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82090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5390436" y="74043"/>
            <a:ext cx="6047056" cy="370840"/>
            <a:chOff x="5390436" y="74043"/>
            <a:chExt cx="6047056" cy="370840"/>
          </a:xfrm>
        </p:grpSpPr>
        <p:sp>
          <p:nvSpPr>
            <p:cNvPr id="5" name="文本框 4"/>
            <p:cNvSpPr txBox="1"/>
            <p:nvPr/>
          </p:nvSpPr>
          <p:spPr>
            <a:xfrm>
              <a:off x="5390436" y="74043"/>
              <a:ext cx="125095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F87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核心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F87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技术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0306524" y="76583"/>
              <a:ext cx="1130968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F87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运行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F87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效果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endParaRPr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6791404" y="159486"/>
              <a:ext cx="3296092" cy="209852"/>
              <a:chOff x="6358270" y="115009"/>
              <a:chExt cx="3296092" cy="307494"/>
            </a:xfrm>
          </p:grpSpPr>
          <p:cxnSp>
            <p:nvCxnSpPr>
              <p:cNvPr id="9" name="直接连接符 8"/>
              <p:cNvCxnSpPr/>
              <p:nvPr/>
            </p:nvCxnSpPr>
            <p:spPr>
              <a:xfrm>
                <a:off x="6358270" y="115009"/>
                <a:ext cx="0" cy="307494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接连接符 9"/>
              <p:cNvCxnSpPr/>
              <p:nvPr/>
            </p:nvCxnSpPr>
            <p:spPr>
              <a:xfrm>
                <a:off x="8006316" y="115009"/>
                <a:ext cx="0" cy="307494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连接符 10"/>
              <p:cNvCxnSpPr/>
              <p:nvPr/>
            </p:nvCxnSpPr>
            <p:spPr>
              <a:xfrm>
                <a:off x="9654362" y="115009"/>
                <a:ext cx="0" cy="307494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41" name="图形 4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3661" y="98896"/>
            <a:ext cx="1251222" cy="347019"/>
          </a:xfrm>
          <a:prstGeom prst="rect">
            <a:avLst/>
          </a:prstGeom>
        </p:spPr>
      </p:pic>
      <p:sp>
        <p:nvSpPr>
          <p:cNvPr id="74" name="文本框 73"/>
          <p:cNvSpPr txBox="1"/>
          <p:nvPr/>
        </p:nvSpPr>
        <p:spPr>
          <a:xfrm>
            <a:off x="382270" y="737235"/>
            <a:ext cx="11054715" cy="29622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 Regular" panose="02020603050405020304" charset="0"/>
              <a:ea typeface="Songti SC Regular" panose="02010800040101010101" charset="-122"/>
              <a:cs typeface="Times New Roman Regular" panose="0202060305040502030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0293350" y="52247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8584486" y="104027"/>
            <a:ext cx="1311305" cy="308804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637826" y="63883"/>
            <a:ext cx="1200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MCP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扩展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990001" y="74043"/>
            <a:ext cx="12509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RAG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系统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3F87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82270" y="737235"/>
            <a:ext cx="11238865" cy="55143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调用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MCP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模块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，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首先需要对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MCP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进行配置。</a:t>
            </a:r>
            <a:endParaRPr lang="zh-CN" altLang="en-US" noProof="0" dirty="0">
              <a:ln>
                <a:noFill/>
              </a:ln>
              <a:effectLst/>
              <a:uLnTx/>
              <a:uFillTx/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通过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  <a:hlinkClick r:id="rId3" action="ppaction://hlinkfile"/>
              </a:rPr>
              <a:t>https://mcp.so/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、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  <a:hlinkClick r:id="rId4" action="ppaction://hlinkfile"/>
              </a:rPr>
              <a:t>https://www.modelscope.cn/mcp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等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MCP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广场网站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，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可以寻找到外部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MCP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模块对应的配置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。</a:t>
            </a:r>
            <a:endParaRPr lang="en-US" altLang="zh-CN" noProof="0" dirty="0">
              <a:ln>
                <a:noFill/>
              </a:ln>
              <a:effectLst/>
              <a:uLnTx/>
              <a:uFillTx/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调用外部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MCP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模块时请根据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command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安装对应的软件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（uvx、npx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等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）。</a:t>
            </a:r>
            <a:endParaRPr lang="en-US" altLang="zh-CN" noProof="0" dirty="0">
              <a:ln>
                <a:noFill/>
              </a:ln>
              <a:effectLst/>
              <a:uLnTx/>
              <a:uFillTx/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+mn-ea"/>
            </a:endParaRPr>
          </a:p>
        </p:txBody>
      </p:sp>
      <p:pic>
        <p:nvPicPr>
          <p:cNvPr id="3" name="图片 2" descr="截屏2025-05-22 20.31.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0025" y="2157095"/>
            <a:ext cx="4171315" cy="34359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" y="481263"/>
            <a:ext cx="12192000" cy="72000"/>
          </a:xfrm>
          <a:prstGeom prst="rect">
            <a:avLst/>
          </a:prstGeom>
          <a:solidFill>
            <a:srgbClr val="003F87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82090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5390436" y="74043"/>
            <a:ext cx="6047056" cy="370840"/>
            <a:chOff x="5390436" y="74043"/>
            <a:chExt cx="6047056" cy="370840"/>
          </a:xfrm>
        </p:grpSpPr>
        <p:sp>
          <p:nvSpPr>
            <p:cNvPr id="5" name="文本框 4"/>
            <p:cNvSpPr txBox="1"/>
            <p:nvPr/>
          </p:nvSpPr>
          <p:spPr>
            <a:xfrm>
              <a:off x="5390436" y="74043"/>
              <a:ext cx="125095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F87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核心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F87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技术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0306524" y="76583"/>
              <a:ext cx="1130968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F87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运行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F87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效果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endParaRPr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6791404" y="159486"/>
              <a:ext cx="3296092" cy="209852"/>
              <a:chOff x="6358270" y="115009"/>
              <a:chExt cx="3296092" cy="307494"/>
            </a:xfrm>
          </p:grpSpPr>
          <p:cxnSp>
            <p:nvCxnSpPr>
              <p:cNvPr id="9" name="直接连接符 8"/>
              <p:cNvCxnSpPr/>
              <p:nvPr/>
            </p:nvCxnSpPr>
            <p:spPr>
              <a:xfrm>
                <a:off x="6358270" y="115009"/>
                <a:ext cx="0" cy="307494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接连接符 9"/>
              <p:cNvCxnSpPr/>
              <p:nvPr/>
            </p:nvCxnSpPr>
            <p:spPr>
              <a:xfrm>
                <a:off x="8006316" y="115009"/>
                <a:ext cx="0" cy="307494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连接符 10"/>
              <p:cNvCxnSpPr/>
              <p:nvPr/>
            </p:nvCxnSpPr>
            <p:spPr>
              <a:xfrm>
                <a:off x="9654362" y="115009"/>
                <a:ext cx="0" cy="307494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41" name="图形 4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3661" y="98896"/>
            <a:ext cx="1251222" cy="347019"/>
          </a:xfrm>
          <a:prstGeom prst="rect">
            <a:avLst/>
          </a:prstGeom>
        </p:spPr>
      </p:pic>
      <p:sp>
        <p:nvSpPr>
          <p:cNvPr id="74" name="文本框 73"/>
          <p:cNvSpPr txBox="1"/>
          <p:nvPr/>
        </p:nvSpPr>
        <p:spPr>
          <a:xfrm>
            <a:off x="382270" y="737235"/>
            <a:ext cx="11054715" cy="29622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 Regular" panose="02020603050405020304" charset="0"/>
              <a:ea typeface="Songti SC Regular" panose="02010800040101010101" charset="-122"/>
              <a:cs typeface="Times New Roman Regular" panose="0202060305040502030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0293350" y="52247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8584486" y="104027"/>
            <a:ext cx="1311305" cy="308804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637826" y="63883"/>
            <a:ext cx="1200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MCP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扩展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990001" y="74043"/>
            <a:ext cx="12509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RAG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系统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3F87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82270" y="737235"/>
            <a:ext cx="11238865" cy="55143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  <a:sym typeface="+mn-ea"/>
              </a:rPr>
              <a:t>在多轮对话主函数中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  <a:sym typeface="+mn-ea"/>
              </a:rPr>
              <a:t>，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  <a:sym typeface="+mn-ea"/>
              </a:rPr>
              <a:t>首先通过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  <a:sym typeface="+mn-ea"/>
              </a:rPr>
              <a:t>convert_mcp_to_langchain_tools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  <a:sym typeface="+mn-ea"/>
              </a:rPr>
              <a:t>函数获取所有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  <a:sym typeface="+mn-ea"/>
              </a:rPr>
              <a:t>MCP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  <a:sym typeface="+mn-ea"/>
              </a:rPr>
              <a:t>工具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  <a:sym typeface="+mn-ea"/>
              </a:rPr>
              <a:t>，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  <a:sym typeface="+mn-ea"/>
              </a:rPr>
              <a:t>然后构建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  <a:sym typeface="+mn-ea"/>
              </a:rPr>
              <a:t>RAG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  <a:sym typeface="+mn-ea"/>
              </a:rPr>
              <a:t>智能体以调用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  <a:sym typeface="+mn-ea"/>
              </a:rPr>
              <a:t>RAG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  <a:sym typeface="+mn-ea"/>
              </a:rPr>
              <a:t>工具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Times New Roman Regular" panose="02020603050405020304" charset="0"/>
                <a:ea typeface="Songti SC Regular" panose="02010800040101010101" charset="-122"/>
                <a:cs typeface="Times New Roman Regular" panose="02020603050405020304" charset="0"/>
                <a:sym typeface="+mn-ea"/>
              </a:rPr>
              <a:t>。</a:t>
            </a:r>
            <a:endParaRPr lang="en-US" altLang="zh-CN" noProof="0" dirty="0">
              <a:ln>
                <a:noFill/>
              </a:ln>
              <a:effectLst/>
              <a:uLnTx/>
              <a:uFillTx/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+mn-ea"/>
            </a:endParaRPr>
          </a:p>
        </p:txBody>
      </p:sp>
      <p:pic>
        <p:nvPicPr>
          <p:cNvPr id="6" name="图片 5" descr="截屏2025-05-22 20.47.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4515" y="1640840"/>
            <a:ext cx="8252460" cy="49555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803775" y="2785110"/>
            <a:ext cx="5003800" cy="12877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b="1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>
                <a:solidFill>
                  <a:schemeClr val="tx1"/>
                </a:solidFill>
              </a:rPr>
              <a:t>运行</a:t>
            </a:r>
            <a:r>
              <a:rPr lang="zh-CN" altLang="en-US">
                <a:solidFill>
                  <a:schemeClr val="tx1"/>
                </a:solidFill>
              </a:rPr>
              <a:t>效果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3209925" y="2363470"/>
            <a:ext cx="2129790" cy="2129790"/>
          </a:xfrm>
          <a:prstGeom prst="ellipse">
            <a:avLst/>
          </a:prstGeom>
          <a:gradFill>
            <a:gsLst>
              <a:gs pos="0">
                <a:srgbClr val="012D86">
                  <a:alpha val="72000"/>
                </a:srgbClr>
              </a:gs>
              <a:gs pos="100000">
                <a:srgbClr val="0E2557"/>
              </a:gs>
            </a:gsLst>
            <a:lin ang="5400000" scaled="0"/>
          </a:gra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865563" y="2644140"/>
            <a:ext cx="861060" cy="156845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altLang="zh-CN" sz="9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sym typeface="+mn-ea"/>
              </a:rPr>
              <a:t>4</a:t>
            </a:r>
            <a:endParaRPr lang="en-US" altLang="zh-CN" sz="96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" y="481263"/>
            <a:ext cx="12192000" cy="72000"/>
          </a:xfrm>
          <a:prstGeom prst="rect">
            <a:avLst/>
          </a:prstGeom>
          <a:solidFill>
            <a:srgbClr val="003F87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82090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5390436" y="74043"/>
            <a:ext cx="4697060" cy="368300"/>
            <a:chOff x="5390436" y="74043"/>
            <a:chExt cx="4697060" cy="368300"/>
          </a:xfrm>
        </p:grpSpPr>
        <p:sp>
          <p:nvSpPr>
            <p:cNvPr id="5" name="文本框 4"/>
            <p:cNvSpPr txBox="1"/>
            <p:nvPr/>
          </p:nvSpPr>
          <p:spPr>
            <a:xfrm>
              <a:off x="5390436" y="74043"/>
              <a:ext cx="125095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F87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核心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F87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技术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endParaRPr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6791404" y="159486"/>
              <a:ext cx="3296092" cy="209852"/>
              <a:chOff x="6358270" y="115009"/>
              <a:chExt cx="3296092" cy="307494"/>
            </a:xfrm>
          </p:grpSpPr>
          <p:cxnSp>
            <p:nvCxnSpPr>
              <p:cNvPr id="9" name="直接连接符 8"/>
              <p:cNvCxnSpPr/>
              <p:nvPr/>
            </p:nvCxnSpPr>
            <p:spPr>
              <a:xfrm>
                <a:off x="6358270" y="115009"/>
                <a:ext cx="0" cy="307494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接连接符 9"/>
              <p:cNvCxnSpPr/>
              <p:nvPr/>
            </p:nvCxnSpPr>
            <p:spPr>
              <a:xfrm>
                <a:off x="8006316" y="115009"/>
                <a:ext cx="0" cy="307494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连接符 10"/>
              <p:cNvCxnSpPr/>
              <p:nvPr/>
            </p:nvCxnSpPr>
            <p:spPr>
              <a:xfrm>
                <a:off x="9654362" y="115009"/>
                <a:ext cx="0" cy="307494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41" name="图形 4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3661" y="98896"/>
            <a:ext cx="1251222" cy="347019"/>
          </a:xfrm>
          <a:prstGeom prst="rect">
            <a:avLst/>
          </a:prstGeom>
        </p:spPr>
      </p:pic>
      <p:sp>
        <p:nvSpPr>
          <p:cNvPr id="74" name="文本框 73"/>
          <p:cNvSpPr txBox="1"/>
          <p:nvPr/>
        </p:nvSpPr>
        <p:spPr>
          <a:xfrm>
            <a:off x="382270" y="737235"/>
            <a:ext cx="11054715" cy="29622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 Regular" panose="02020603050405020304" charset="0"/>
              <a:ea typeface="Songti SC Regular" panose="02010800040101010101" charset="-122"/>
              <a:cs typeface="Times New Roman Regular" panose="0202060305040502030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0293350" y="52247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6990001" y="74043"/>
            <a:ext cx="12509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RAG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系统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3F87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82270" y="737235"/>
            <a:ext cx="11238865" cy="55143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noProof="0" dirty="0">
              <a:ln>
                <a:noFill/>
              </a:ln>
              <a:effectLst/>
              <a:uLnTx/>
              <a:uFillTx/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239296" y="104027"/>
            <a:ext cx="1311305" cy="308804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292636" y="63883"/>
            <a:ext cx="1200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运行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效果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659416" y="76583"/>
            <a:ext cx="1200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MCP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扩展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3F87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09270" y="864235"/>
            <a:ext cx="11238865" cy="55143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运行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main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函数时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，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先初始化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MCP</a:t>
            </a:r>
            <a:endParaRPr lang="en-US" altLang="zh-CN" noProof="0" dirty="0">
              <a:ln>
                <a:noFill/>
              </a:ln>
              <a:effectLst/>
              <a:uLnTx/>
              <a:uFillTx/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noProof="0" dirty="0">
              <a:ln>
                <a:noFill/>
              </a:ln>
              <a:effectLst/>
              <a:uLnTx/>
              <a:uFillTx/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+mn-ea"/>
            </a:endParaRPr>
          </a:p>
        </p:txBody>
      </p:sp>
      <p:pic>
        <p:nvPicPr>
          <p:cNvPr id="15" name="图片 14" descr="截屏2025-05-22 21.08.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375" y="1451610"/>
            <a:ext cx="10963275" cy="43402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" y="481263"/>
            <a:ext cx="12192000" cy="72000"/>
          </a:xfrm>
          <a:prstGeom prst="rect">
            <a:avLst/>
          </a:prstGeom>
          <a:solidFill>
            <a:srgbClr val="003F87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82090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5390436" y="74043"/>
            <a:ext cx="4697060" cy="368300"/>
            <a:chOff x="5390436" y="74043"/>
            <a:chExt cx="4697060" cy="368300"/>
          </a:xfrm>
        </p:grpSpPr>
        <p:sp>
          <p:nvSpPr>
            <p:cNvPr id="5" name="文本框 4"/>
            <p:cNvSpPr txBox="1"/>
            <p:nvPr/>
          </p:nvSpPr>
          <p:spPr>
            <a:xfrm>
              <a:off x="5390436" y="74043"/>
              <a:ext cx="125095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F87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核心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F87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技术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endParaRPr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6791404" y="159486"/>
              <a:ext cx="3296092" cy="209852"/>
              <a:chOff x="6358270" y="115009"/>
              <a:chExt cx="3296092" cy="307494"/>
            </a:xfrm>
          </p:grpSpPr>
          <p:cxnSp>
            <p:nvCxnSpPr>
              <p:cNvPr id="9" name="直接连接符 8"/>
              <p:cNvCxnSpPr/>
              <p:nvPr/>
            </p:nvCxnSpPr>
            <p:spPr>
              <a:xfrm>
                <a:off x="6358270" y="115009"/>
                <a:ext cx="0" cy="307494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接连接符 9"/>
              <p:cNvCxnSpPr/>
              <p:nvPr/>
            </p:nvCxnSpPr>
            <p:spPr>
              <a:xfrm>
                <a:off x="8006316" y="115009"/>
                <a:ext cx="0" cy="307494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连接符 10"/>
              <p:cNvCxnSpPr/>
              <p:nvPr/>
            </p:nvCxnSpPr>
            <p:spPr>
              <a:xfrm>
                <a:off x="9654362" y="115009"/>
                <a:ext cx="0" cy="307494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41" name="图形 4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3661" y="98896"/>
            <a:ext cx="1251222" cy="347019"/>
          </a:xfrm>
          <a:prstGeom prst="rect">
            <a:avLst/>
          </a:prstGeom>
        </p:spPr>
      </p:pic>
      <p:sp>
        <p:nvSpPr>
          <p:cNvPr id="74" name="文本框 73"/>
          <p:cNvSpPr txBox="1"/>
          <p:nvPr/>
        </p:nvSpPr>
        <p:spPr>
          <a:xfrm>
            <a:off x="382270" y="737235"/>
            <a:ext cx="11054715" cy="29622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 Regular" panose="02020603050405020304" charset="0"/>
              <a:ea typeface="Songti SC Regular" panose="02010800040101010101" charset="-122"/>
              <a:cs typeface="Times New Roman Regular" panose="0202060305040502030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0293350" y="52247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6990001" y="74043"/>
            <a:ext cx="12509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RAG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系统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3F87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82270" y="737235"/>
            <a:ext cx="11238865" cy="55143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noProof="0" dirty="0">
              <a:ln>
                <a:noFill/>
              </a:ln>
              <a:effectLst/>
              <a:uLnTx/>
              <a:uFillTx/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239296" y="104027"/>
            <a:ext cx="1311305" cy="308804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292636" y="63883"/>
            <a:ext cx="1200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运行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效果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659416" y="76583"/>
            <a:ext cx="1200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MCP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扩展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3F87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09270" y="864235"/>
            <a:ext cx="11238865" cy="55143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测试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Tavily MCP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模块</a:t>
            </a:r>
            <a:endParaRPr lang="zh-CN" altLang="en-US" noProof="0" dirty="0">
              <a:ln>
                <a:noFill/>
              </a:ln>
              <a:effectLst/>
              <a:uLnTx/>
              <a:uFillTx/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noProof="0" dirty="0">
              <a:ln>
                <a:noFill/>
              </a:ln>
              <a:effectLst/>
              <a:uLnTx/>
              <a:uFillTx/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noProof="0" dirty="0">
              <a:ln>
                <a:noFill/>
              </a:ln>
              <a:effectLst/>
              <a:uLnTx/>
              <a:uFillTx/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+mn-ea"/>
            </a:endParaRPr>
          </a:p>
        </p:txBody>
      </p:sp>
      <p:pic>
        <p:nvPicPr>
          <p:cNvPr id="4" name="图片 3" descr="截屏2025-05-22 21.15.5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940" y="1484630"/>
            <a:ext cx="10239375" cy="32658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" y="481263"/>
            <a:ext cx="12192000" cy="72000"/>
          </a:xfrm>
          <a:prstGeom prst="rect">
            <a:avLst/>
          </a:prstGeom>
          <a:solidFill>
            <a:srgbClr val="003F87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82090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5390436" y="74043"/>
            <a:ext cx="4697060" cy="368300"/>
            <a:chOff x="5390436" y="74043"/>
            <a:chExt cx="4697060" cy="368300"/>
          </a:xfrm>
        </p:grpSpPr>
        <p:sp>
          <p:nvSpPr>
            <p:cNvPr id="5" name="文本框 4"/>
            <p:cNvSpPr txBox="1"/>
            <p:nvPr/>
          </p:nvSpPr>
          <p:spPr>
            <a:xfrm>
              <a:off x="5390436" y="74043"/>
              <a:ext cx="125095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F87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核心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F87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技术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endParaRPr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6791404" y="159486"/>
              <a:ext cx="3296092" cy="209852"/>
              <a:chOff x="6358270" y="115009"/>
              <a:chExt cx="3296092" cy="307494"/>
            </a:xfrm>
          </p:grpSpPr>
          <p:cxnSp>
            <p:nvCxnSpPr>
              <p:cNvPr id="9" name="直接连接符 8"/>
              <p:cNvCxnSpPr/>
              <p:nvPr/>
            </p:nvCxnSpPr>
            <p:spPr>
              <a:xfrm>
                <a:off x="6358270" y="115009"/>
                <a:ext cx="0" cy="307494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接连接符 9"/>
              <p:cNvCxnSpPr/>
              <p:nvPr/>
            </p:nvCxnSpPr>
            <p:spPr>
              <a:xfrm>
                <a:off x="8006316" y="115009"/>
                <a:ext cx="0" cy="307494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连接符 10"/>
              <p:cNvCxnSpPr/>
              <p:nvPr/>
            </p:nvCxnSpPr>
            <p:spPr>
              <a:xfrm>
                <a:off x="9654362" y="115009"/>
                <a:ext cx="0" cy="307494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41" name="图形 4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3661" y="98896"/>
            <a:ext cx="1251222" cy="347019"/>
          </a:xfrm>
          <a:prstGeom prst="rect">
            <a:avLst/>
          </a:prstGeom>
        </p:spPr>
      </p:pic>
      <p:sp>
        <p:nvSpPr>
          <p:cNvPr id="74" name="文本框 73"/>
          <p:cNvSpPr txBox="1"/>
          <p:nvPr/>
        </p:nvSpPr>
        <p:spPr>
          <a:xfrm>
            <a:off x="382270" y="737235"/>
            <a:ext cx="11054715" cy="29622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 Regular" panose="02020603050405020304" charset="0"/>
              <a:ea typeface="Songti SC Regular" panose="02010800040101010101" charset="-122"/>
              <a:cs typeface="Times New Roman Regular" panose="0202060305040502030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0293350" y="52247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6990001" y="74043"/>
            <a:ext cx="12509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RAG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系统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3F87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82270" y="737235"/>
            <a:ext cx="11238865" cy="55143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noProof="0" dirty="0">
              <a:ln>
                <a:noFill/>
              </a:ln>
              <a:effectLst/>
              <a:uLnTx/>
              <a:uFillTx/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239296" y="104027"/>
            <a:ext cx="1311305" cy="308804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292636" y="63883"/>
            <a:ext cx="1200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运行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效果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659416" y="76583"/>
            <a:ext cx="1200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MCP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扩展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3F87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09270" y="864235"/>
            <a:ext cx="11238865" cy="55143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测试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Fetch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和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Filesystem MCP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模块</a:t>
            </a:r>
            <a:endParaRPr lang="zh-CN" altLang="en-US" noProof="0" dirty="0">
              <a:ln>
                <a:noFill/>
              </a:ln>
              <a:effectLst/>
              <a:uLnTx/>
              <a:uFillTx/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noProof="0" dirty="0">
              <a:ln>
                <a:noFill/>
              </a:ln>
              <a:effectLst/>
              <a:uLnTx/>
              <a:uFillTx/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noProof="0" dirty="0">
              <a:ln>
                <a:noFill/>
              </a:ln>
              <a:effectLst/>
              <a:uLnTx/>
              <a:uFillTx/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+mn-ea"/>
            </a:endParaRPr>
          </a:p>
        </p:txBody>
      </p:sp>
      <p:pic>
        <p:nvPicPr>
          <p:cNvPr id="4" name="图片 3" descr="截屏2025-05-22 21.16.5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865" y="1403985"/>
            <a:ext cx="10636885" cy="17043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" y="481263"/>
            <a:ext cx="12192000" cy="72000"/>
          </a:xfrm>
          <a:prstGeom prst="rect">
            <a:avLst/>
          </a:prstGeom>
          <a:solidFill>
            <a:srgbClr val="003F87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82090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5390436" y="74043"/>
            <a:ext cx="4697060" cy="368300"/>
            <a:chOff x="5390436" y="74043"/>
            <a:chExt cx="4697060" cy="368300"/>
          </a:xfrm>
        </p:grpSpPr>
        <p:sp>
          <p:nvSpPr>
            <p:cNvPr id="5" name="文本框 4"/>
            <p:cNvSpPr txBox="1"/>
            <p:nvPr/>
          </p:nvSpPr>
          <p:spPr>
            <a:xfrm>
              <a:off x="5390436" y="74043"/>
              <a:ext cx="125095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F87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核心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F87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技术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endParaRPr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6791404" y="159486"/>
              <a:ext cx="3296092" cy="209852"/>
              <a:chOff x="6358270" y="115009"/>
              <a:chExt cx="3296092" cy="307494"/>
            </a:xfrm>
          </p:grpSpPr>
          <p:cxnSp>
            <p:nvCxnSpPr>
              <p:cNvPr id="9" name="直接连接符 8"/>
              <p:cNvCxnSpPr/>
              <p:nvPr/>
            </p:nvCxnSpPr>
            <p:spPr>
              <a:xfrm>
                <a:off x="6358270" y="115009"/>
                <a:ext cx="0" cy="307494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接连接符 9"/>
              <p:cNvCxnSpPr/>
              <p:nvPr/>
            </p:nvCxnSpPr>
            <p:spPr>
              <a:xfrm>
                <a:off x="8006316" y="115009"/>
                <a:ext cx="0" cy="307494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连接符 10"/>
              <p:cNvCxnSpPr/>
              <p:nvPr/>
            </p:nvCxnSpPr>
            <p:spPr>
              <a:xfrm>
                <a:off x="9654362" y="115009"/>
                <a:ext cx="0" cy="307494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41" name="图形 4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3661" y="98896"/>
            <a:ext cx="1251222" cy="347019"/>
          </a:xfrm>
          <a:prstGeom prst="rect">
            <a:avLst/>
          </a:prstGeom>
        </p:spPr>
      </p:pic>
      <p:sp>
        <p:nvSpPr>
          <p:cNvPr id="74" name="文本框 73"/>
          <p:cNvSpPr txBox="1"/>
          <p:nvPr/>
        </p:nvSpPr>
        <p:spPr>
          <a:xfrm>
            <a:off x="382270" y="737235"/>
            <a:ext cx="11054715" cy="29622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 Regular" panose="02020603050405020304" charset="0"/>
              <a:ea typeface="Songti SC Regular" panose="02010800040101010101" charset="-122"/>
              <a:cs typeface="Times New Roman Regular" panose="0202060305040502030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0293350" y="52247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6990001" y="74043"/>
            <a:ext cx="12509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RAG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系统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3F87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82270" y="737235"/>
            <a:ext cx="11238865" cy="55143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noProof="0" dirty="0">
              <a:ln>
                <a:noFill/>
              </a:ln>
              <a:effectLst/>
              <a:uLnTx/>
              <a:uFillTx/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239296" y="104027"/>
            <a:ext cx="1311305" cy="308804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292636" y="63883"/>
            <a:ext cx="1200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运行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效果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659416" y="76583"/>
            <a:ext cx="1200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MCP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扩展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3F87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09270" y="864235"/>
            <a:ext cx="11238865" cy="55143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测试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记忆功能</a:t>
            </a:r>
            <a:endParaRPr lang="zh-CN" altLang="en-US" noProof="0" dirty="0">
              <a:ln>
                <a:noFill/>
              </a:ln>
              <a:effectLst/>
              <a:uLnTx/>
              <a:uFillTx/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noProof="0" dirty="0">
              <a:ln>
                <a:noFill/>
              </a:ln>
              <a:effectLst/>
              <a:uLnTx/>
              <a:uFillTx/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noProof="0" dirty="0">
              <a:ln>
                <a:noFill/>
              </a:ln>
              <a:effectLst/>
              <a:uLnTx/>
              <a:uFillTx/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+mn-ea"/>
            </a:endParaRPr>
          </a:p>
        </p:txBody>
      </p:sp>
      <p:pic>
        <p:nvPicPr>
          <p:cNvPr id="4" name="图片 3" descr="截屏2025-05-22 21.10.0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850" y="1510665"/>
            <a:ext cx="10274300" cy="27559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" y="481263"/>
            <a:ext cx="12192000" cy="72000"/>
          </a:xfrm>
          <a:prstGeom prst="rect">
            <a:avLst/>
          </a:prstGeom>
          <a:solidFill>
            <a:srgbClr val="003F87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82090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5390436" y="74043"/>
            <a:ext cx="4697060" cy="368300"/>
            <a:chOff x="5390436" y="74043"/>
            <a:chExt cx="4697060" cy="368300"/>
          </a:xfrm>
        </p:grpSpPr>
        <p:sp>
          <p:nvSpPr>
            <p:cNvPr id="5" name="文本框 4"/>
            <p:cNvSpPr txBox="1"/>
            <p:nvPr/>
          </p:nvSpPr>
          <p:spPr>
            <a:xfrm>
              <a:off x="5390436" y="74043"/>
              <a:ext cx="125095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F87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核心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F87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技术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endParaRPr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6791404" y="159486"/>
              <a:ext cx="3296092" cy="209852"/>
              <a:chOff x="6358270" y="115009"/>
              <a:chExt cx="3296092" cy="307494"/>
            </a:xfrm>
          </p:grpSpPr>
          <p:cxnSp>
            <p:nvCxnSpPr>
              <p:cNvPr id="9" name="直接连接符 8"/>
              <p:cNvCxnSpPr/>
              <p:nvPr/>
            </p:nvCxnSpPr>
            <p:spPr>
              <a:xfrm>
                <a:off x="6358270" y="115009"/>
                <a:ext cx="0" cy="307494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接连接符 9"/>
              <p:cNvCxnSpPr/>
              <p:nvPr/>
            </p:nvCxnSpPr>
            <p:spPr>
              <a:xfrm>
                <a:off x="8006316" y="115009"/>
                <a:ext cx="0" cy="307494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连接符 10"/>
              <p:cNvCxnSpPr/>
              <p:nvPr/>
            </p:nvCxnSpPr>
            <p:spPr>
              <a:xfrm>
                <a:off x="9654362" y="115009"/>
                <a:ext cx="0" cy="307494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41" name="图形 4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3661" y="98896"/>
            <a:ext cx="1251222" cy="347019"/>
          </a:xfrm>
          <a:prstGeom prst="rect">
            <a:avLst/>
          </a:prstGeom>
        </p:spPr>
      </p:pic>
      <p:sp>
        <p:nvSpPr>
          <p:cNvPr id="74" name="文本框 73"/>
          <p:cNvSpPr txBox="1"/>
          <p:nvPr/>
        </p:nvSpPr>
        <p:spPr>
          <a:xfrm>
            <a:off x="382270" y="737235"/>
            <a:ext cx="11054715" cy="29622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 Regular" panose="02020603050405020304" charset="0"/>
              <a:ea typeface="Songti SC Regular" panose="02010800040101010101" charset="-122"/>
              <a:cs typeface="Times New Roman Regular" panose="0202060305040502030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0293350" y="52247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6990001" y="74043"/>
            <a:ext cx="12509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RAG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系统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3F87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82270" y="737235"/>
            <a:ext cx="11238865" cy="55143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noProof="0" dirty="0">
              <a:ln>
                <a:noFill/>
              </a:ln>
              <a:effectLst/>
              <a:uLnTx/>
              <a:uFillTx/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239296" y="104027"/>
            <a:ext cx="1311305" cy="308804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292636" y="63883"/>
            <a:ext cx="1200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运行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效果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659416" y="76583"/>
            <a:ext cx="1200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MCP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扩展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3F87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09270" y="864235"/>
            <a:ext cx="11238865" cy="55143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测试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RAG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+mn-ea"/>
              </a:rPr>
              <a:t>功能</a:t>
            </a:r>
            <a:endParaRPr lang="zh-CN" altLang="en-US" noProof="0" dirty="0">
              <a:ln>
                <a:noFill/>
              </a:ln>
              <a:effectLst/>
              <a:uLnTx/>
              <a:uFillTx/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noProof="0" dirty="0">
              <a:ln>
                <a:noFill/>
              </a:ln>
              <a:effectLst/>
              <a:uLnTx/>
              <a:uFillTx/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noProof="0" dirty="0">
              <a:ln>
                <a:noFill/>
              </a:ln>
              <a:effectLst/>
              <a:uLnTx/>
              <a:uFillTx/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+mn-ea"/>
            </a:endParaRPr>
          </a:p>
        </p:txBody>
      </p:sp>
      <p:pic>
        <p:nvPicPr>
          <p:cNvPr id="7" name="图片 6" descr="截屏2025-05-22 21.19.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270" y="1796415"/>
            <a:ext cx="11238865" cy="30099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形 2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10309" y="1445121"/>
            <a:ext cx="5215098" cy="4330394"/>
          </a:xfrm>
          <a:prstGeom prst="rect">
            <a:avLst/>
          </a:prstGeom>
          <a:effectLst>
            <a:glow rad="12700">
              <a:schemeClr val="bg1">
                <a:alpha val="41000"/>
              </a:schemeClr>
            </a:glow>
          </a:effectLst>
        </p:spPr>
      </p:pic>
      <p:pic>
        <p:nvPicPr>
          <p:cNvPr id="24" name="图形 2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31960" y="2827608"/>
            <a:ext cx="623999" cy="518142"/>
          </a:xfrm>
          <a:prstGeom prst="rect">
            <a:avLst/>
          </a:prstGeom>
          <a:effectLst>
            <a:glow rad="12700">
              <a:schemeClr val="bg1">
                <a:alpha val="41000"/>
              </a:schemeClr>
            </a:glow>
          </a:effectLst>
        </p:spPr>
      </p:pic>
      <p:pic>
        <p:nvPicPr>
          <p:cNvPr id="23" name="图形 2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58912" y="3669555"/>
            <a:ext cx="623999" cy="518142"/>
          </a:xfrm>
          <a:prstGeom prst="rect">
            <a:avLst/>
          </a:prstGeom>
          <a:effectLst>
            <a:glow rad="12700">
              <a:schemeClr val="bg1">
                <a:alpha val="41000"/>
              </a:schemeClr>
            </a:glow>
          </a:effectLst>
        </p:spPr>
      </p:pic>
      <p:sp>
        <p:nvSpPr>
          <p:cNvPr id="20" name="矩形 19"/>
          <p:cNvSpPr/>
          <p:nvPr/>
        </p:nvSpPr>
        <p:spPr>
          <a:xfrm flipV="1">
            <a:off x="0" y="6552308"/>
            <a:ext cx="12178488" cy="305692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016305" y="2558909"/>
            <a:ext cx="2703287" cy="722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000" dirty="0">
                <a:solidFill>
                  <a:srgbClr val="003F87"/>
                </a:solidFill>
                <a:latin typeface="微软雅黑"/>
                <a:ea typeface="微软雅黑"/>
              </a:rPr>
              <a:t>感谢观看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003F87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pic>
        <p:nvPicPr>
          <p:cNvPr id="5" name="图形 4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43909" y="175131"/>
            <a:ext cx="1508654" cy="529352"/>
          </a:xfrm>
          <a:prstGeom prst="rect">
            <a:avLst/>
          </a:prstGeom>
        </p:spPr>
      </p:pic>
      <p:pic>
        <p:nvPicPr>
          <p:cNvPr id="15" name="图形 14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88208" y="426805"/>
            <a:ext cx="623999" cy="518142"/>
          </a:xfrm>
          <a:prstGeom prst="rect">
            <a:avLst/>
          </a:prstGeom>
          <a:effectLst>
            <a:glow rad="12700">
              <a:schemeClr val="bg1">
                <a:alpha val="41000"/>
              </a:schemeClr>
            </a:glow>
          </a:effectLst>
        </p:spPr>
      </p:pic>
      <p:pic>
        <p:nvPicPr>
          <p:cNvPr id="16" name="图形 15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01408" y="4402483"/>
            <a:ext cx="623999" cy="518142"/>
          </a:xfrm>
          <a:prstGeom prst="rect">
            <a:avLst/>
          </a:prstGeom>
          <a:effectLst>
            <a:glow rad="12700">
              <a:schemeClr val="bg1">
                <a:alpha val="41000"/>
              </a:schemeClr>
            </a:glow>
          </a:effectLst>
        </p:spPr>
      </p:pic>
      <p:pic>
        <p:nvPicPr>
          <p:cNvPr id="22" name="图形 2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01408" y="5365067"/>
            <a:ext cx="623999" cy="518142"/>
          </a:xfrm>
          <a:prstGeom prst="rect">
            <a:avLst/>
          </a:prstGeom>
          <a:effectLst>
            <a:glow rad="12700">
              <a:schemeClr val="bg1">
                <a:alpha val="41000"/>
              </a:schemeClr>
            </a:glow>
          </a:effectLst>
        </p:spPr>
      </p:pic>
      <p:sp>
        <p:nvSpPr>
          <p:cNvPr id="25" name="文本框 24"/>
          <p:cNvSpPr txBox="1"/>
          <p:nvPr/>
        </p:nvSpPr>
        <p:spPr>
          <a:xfrm>
            <a:off x="3895090" y="6104255"/>
            <a:ext cx="41979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3F87"/>
                </a:solidFill>
              </a:rPr>
              <a:t>勤 学 </a:t>
            </a:r>
            <a:r>
              <a:rPr lang="en-US" altLang="zh-CN" dirty="0">
                <a:solidFill>
                  <a:srgbClr val="003F87"/>
                </a:solidFill>
              </a:rPr>
              <a:t> /  </a:t>
            </a:r>
            <a:r>
              <a:rPr lang="zh-CN" altLang="en-US" dirty="0">
                <a:solidFill>
                  <a:srgbClr val="003F87"/>
                </a:solidFill>
              </a:rPr>
              <a:t>修 德  </a:t>
            </a:r>
            <a:r>
              <a:rPr lang="en-US" altLang="zh-CN" dirty="0">
                <a:solidFill>
                  <a:srgbClr val="003F87"/>
                </a:solidFill>
              </a:rPr>
              <a:t>/  </a:t>
            </a:r>
            <a:r>
              <a:rPr lang="zh-CN" altLang="en-US" dirty="0">
                <a:solidFill>
                  <a:srgbClr val="003F87"/>
                </a:solidFill>
              </a:rPr>
              <a:t>明 辨  </a:t>
            </a:r>
            <a:r>
              <a:rPr lang="en-US" altLang="zh-CN" dirty="0">
                <a:solidFill>
                  <a:srgbClr val="003F87"/>
                </a:solidFill>
              </a:rPr>
              <a:t>/  </a:t>
            </a:r>
            <a:r>
              <a:rPr lang="zh-CN" altLang="en-US" dirty="0">
                <a:solidFill>
                  <a:srgbClr val="003F87"/>
                </a:solidFill>
              </a:rPr>
              <a:t>笃 实</a:t>
            </a:r>
            <a:endParaRPr lang="zh-CN" altLang="en-US" dirty="0">
              <a:solidFill>
                <a:srgbClr val="003F87"/>
              </a:solidFill>
            </a:endParaRPr>
          </a:p>
        </p:txBody>
      </p:sp>
      <p:pic>
        <p:nvPicPr>
          <p:cNvPr id="27" name="图形 2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83928" y="3360503"/>
            <a:ext cx="623999" cy="518142"/>
          </a:xfrm>
          <a:prstGeom prst="rect">
            <a:avLst/>
          </a:prstGeom>
          <a:effectLst>
            <a:glow rad="12700">
              <a:schemeClr val="bg1">
                <a:alpha val="41000"/>
              </a:schemeClr>
            </a:glow>
          </a:effectLst>
        </p:spPr>
      </p:pic>
      <p:pic>
        <p:nvPicPr>
          <p:cNvPr id="29" name="图形 2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07928" y="673324"/>
            <a:ext cx="623999" cy="518142"/>
          </a:xfrm>
          <a:prstGeom prst="rect">
            <a:avLst/>
          </a:prstGeom>
          <a:effectLst>
            <a:glow rad="12700">
              <a:schemeClr val="bg1">
                <a:alpha val="41000"/>
              </a:schemeClr>
            </a:glow>
          </a:effectLst>
        </p:spPr>
      </p:pic>
      <p:pic>
        <p:nvPicPr>
          <p:cNvPr id="31" name="图形 3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04305" y="4857050"/>
            <a:ext cx="623999" cy="518142"/>
          </a:xfrm>
          <a:prstGeom prst="rect">
            <a:avLst/>
          </a:prstGeom>
          <a:effectLst>
            <a:glow rad="12700">
              <a:schemeClr val="bg1">
                <a:alpha val="41000"/>
              </a:schemeClr>
            </a:glow>
          </a:effectLst>
        </p:spPr>
      </p:pic>
      <p:pic>
        <p:nvPicPr>
          <p:cNvPr id="32" name="图形 3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47866" y="4360212"/>
            <a:ext cx="623999" cy="518142"/>
          </a:xfrm>
          <a:prstGeom prst="rect">
            <a:avLst/>
          </a:prstGeom>
          <a:effectLst>
            <a:glow rad="12700">
              <a:schemeClr val="bg1">
                <a:alpha val="41000"/>
              </a:schemeClr>
            </a:glow>
          </a:effectLst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04" y="1189878"/>
            <a:ext cx="5961580" cy="4470903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83550" y="1189877"/>
            <a:ext cx="5970535" cy="4470904"/>
          </a:xfrm>
          <a:prstGeom prst="rect">
            <a:avLst/>
          </a:prstGeom>
          <a:solidFill>
            <a:schemeClr val="bg1">
              <a:lumMod val="85000"/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7623222" y="5482886"/>
            <a:ext cx="2987665" cy="777348"/>
          </a:xfrm>
          <a:prstGeom prst="ellipse">
            <a:avLst/>
          </a:prstGeom>
          <a:noFill/>
          <a:ln w="38100">
            <a:solidFill>
              <a:srgbClr val="8DA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椭圆 25"/>
          <p:cNvSpPr/>
          <p:nvPr/>
        </p:nvSpPr>
        <p:spPr>
          <a:xfrm>
            <a:off x="8185335" y="5781218"/>
            <a:ext cx="1863440" cy="242352"/>
          </a:xfrm>
          <a:prstGeom prst="ellipse">
            <a:avLst/>
          </a:prstGeom>
          <a:noFill/>
          <a:ln w="38100">
            <a:solidFill>
              <a:srgbClr val="8DA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17" grpId="0"/>
      <p:bldP spid="25" grpId="0"/>
    </p:bldLst>
  </p:timing>
</p:sld>
</file>

<file path=ppt/tags/tag1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0180699"/>
  <p:tag name="KSO_WM_UNIT_TYPE" val="a"/>
  <p:tag name="KSO_WM_UNIT_INDEX" val="1"/>
  <p:tag name="KSO_WM_UNIT_LAYERLEVEL" val="1"/>
  <p:tag name="KSO_WM_UNIT_VALUE" val="18"/>
  <p:tag name="KSO_WM_UNIT_ISCONTENTSTITLE" val="0"/>
  <p:tag name="KSO_WM_UNIT_HIGHLIGHT" val="0"/>
  <p:tag name="KSO_WM_UNIT_COMPATIBLE" val="0"/>
  <p:tag name="KSO_WM_UNIT_ID" val="custom20180699_11*a*1"/>
  <p:tag name="KSO_WM_UNIT_PRESET_TEXT" val="SECTION TITLE"/>
  <p:tag name="KSO_WM_UNIT_ISNUMDGMTITLE" val="0"/>
  <p:tag name="KSO_WM_UNIT_NOCLEAR" val="0"/>
  <p:tag name="KSO_WM_UNIT_DIAGRAM_ISNUMVISUAL" val="0"/>
  <p:tag name="KSO_WM_UNIT_DIAGRAM_ISREFERUNIT" val="0"/>
</p:tagLst>
</file>

<file path=ppt/tags/tag2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0180699"/>
  <p:tag name="KSO_WM_UNIT_TYPE" val="a"/>
  <p:tag name="KSO_WM_UNIT_INDEX" val="1"/>
  <p:tag name="KSO_WM_UNIT_LAYERLEVEL" val="1"/>
  <p:tag name="KSO_WM_UNIT_VALUE" val="18"/>
  <p:tag name="KSO_WM_UNIT_ISCONTENTSTITLE" val="0"/>
  <p:tag name="KSO_WM_UNIT_HIGHLIGHT" val="0"/>
  <p:tag name="KSO_WM_UNIT_COMPATIBLE" val="0"/>
  <p:tag name="KSO_WM_UNIT_ID" val="custom20180699_11*a*1"/>
  <p:tag name="KSO_WM_UNIT_PRESET_TEXT" val="SECTION TITLE"/>
  <p:tag name="KSO_WM_UNIT_ISNUMDGMTITLE" val="0"/>
  <p:tag name="KSO_WM_UNIT_NOCLEAR" val="0"/>
  <p:tag name="KSO_WM_UNIT_DIAGRAM_ISNUMVISUAL" val="0"/>
  <p:tag name="KSO_WM_UNIT_DIAGRAM_ISREFERUNIT" val="0"/>
</p:tagLst>
</file>

<file path=ppt/tags/tag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0180699"/>
  <p:tag name="KSO_WM_UNIT_TYPE" val="a"/>
  <p:tag name="KSO_WM_UNIT_INDEX" val="1"/>
  <p:tag name="KSO_WM_UNIT_LAYERLEVEL" val="1"/>
  <p:tag name="KSO_WM_UNIT_VALUE" val="18"/>
  <p:tag name="KSO_WM_UNIT_ISCONTENTSTITLE" val="0"/>
  <p:tag name="KSO_WM_UNIT_HIGHLIGHT" val="0"/>
  <p:tag name="KSO_WM_UNIT_COMPATIBLE" val="0"/>
  <p:tag name="KSO_WM_UNIT_ID" val="custom20180699_11*a*1"/>
  <p:tag name="KSO_WM_UNIT_PRESET_TEXT" val="SECTION TITLE"/>
  <p:tag name="KSO_WM_UNIT_ISNUMDGMTITLE" val="0"/>
  <p:tag name="KSO_WM_UNIT_NOCLEAR" val="0"/>
  <p:tag name="KSO_WM_UNIT_DIAGRAM_ISNUMVISUAL" val="0"/>
  <p:tag name="KSO_WM_UNIT_DIAGRAM_ISREFERUNIT" val="0"/>
</p:tagLst>
</file>

<file path=ppt/tags/tag4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0180699"/>
  <p:tag name="KSO_WM_UNIT_TYPE" val="a"/>
  <p:tag name="KSO_WM_UNIT_INDEX" val="1"/>
  <p:tag name="KSO_WM_UNIT_LAYERLEVEL" val="1"/>
  <p:tag name="KSO_WM_UNIT_VALUE" val="18"/>
  <p:tag name="KSO_WM_UNIT_ISCONTENTSTITLE" val="0"/>
  <p:tag name="KSO_WM_UNIT_HIGHLIGHT" val="0"/>
  <p:tag name="KSO_WM_UNIT_COMPATIBLE" val="0"/>
  <p:tag name="KSO_WM_UNIT_ID" val="custom20180699_11*a*1"/>
  <p:tag name="KSO_WM_UNIT_PRESET_TEXT" val="SECTION TITLE"/>
  <p:tag name="KSO_WM_UNIT_ISNUMDGMTITLE" val="0"/>
  <p:tag name="KSO_WM_UNIT_NOCLEAR" val="0"/>
  <p:tag name="KSO_WM_UNIT_DIAGRAM_ISNUMVISUAL" val="0"/>
  <p:tag name="KSO_WM_UNIT_DIAGRAM_ISREFERUNIT" val="0"/>
</p:tagLst>
</file>

<file path=ppt/tags/tag5.xml><?xml version="1.0" encoding="utf-8"?>
<p:tagLst xmlns:p="http://schemas.openxmlformats.org/presentationml/2006/main">
  <p:tag name="ISPRING_PRESENTATION_TITLE" val="蓝色大气简约答辩类PPT模板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2">
      <a:majorFont>
        <a:latin typeface="Calibri Light"/>
        <a:ea typeface="微软雅黑"/>
        <a:cs typeface=""/>
      </a:majorFont>
      <a:minorFont>
        <a:latin typeface="微软雅黑 Light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3423</Words>
  <Application>WPS 演示</Application>
  <PresentationFormat>宽屏</PresentationFormat>
  <Paragraphs>331</Paragraphs>
  <Slides>28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52" baseType="lpstr">
      <vt:lpstr>Arial</vt:lpstr>
      <vt:lpstr>宋体</vt:lpstr>
      <vt:lpstr>Wingdings</vt:lpstr>
      <vt:lpstr>微软雅黑 Light</vt:lpstr>
      <vt:lpstr>微软雅黑</vt:lpstr>
      <vt:lpstr>汉仪旗黑</vt:lpstr>
      <vt:lpstr>汉仪中黑KW</vt:lpstr>
      <vt:lpstr>Times New Roman Regular</vt:lpstr>
      <vt:lpstr>Songti SC Bold</vt:lpstr>
      <vt:lpstr>Songti SC Regular</vt:lpstr>
      <vt:lpstr>Times New Roman Bold</vt:lpstr>
      <vt:lpstr>Songti SC</vt:lpstr>
      <vt:lpstr>微软雅黑</vt:lpstr>
      <vt:lpstr>宋体</vt:lpstr>
      <vt:lpstr>Arial Unicode MS</vt:lpstr>
      <vt:lpstr>Calibri Light</vt:lpstr>
      <vt:lpstr>Helvetica Neue</vt:lpstr>
      <vt:lpstr>等线</vt:lpstr>
      <vt:lpstr>汉仪中等线KW</vt:lpstr>
      <vt:lpstr>Calibri</vt:lpstr>
      <vt:lpstr>汉仪书宋二KW</vt:lpstr>
      <vt:lpstr>微软雅黑</vt:lpstr>
      <vt:lpstr>微软雅黑 Light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蓝色大气简约答辩类PPT模板</dc:title>
  <dc:creator>Windows 用户</dc:creator>
  <cp:lastModifiedBy>章军豪</cp:lastModifiedBy>
  <cp:revision>158</cp:revision>
  <dcterms:created xsi:type="dcterms:W3CDTF">2025-06-04T07:37:14Z</dcterms:created>
  <dcterms:modified xsi:type="dcterms:W3CDTF">2025-06-04T07:37:14Z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A0048498CCD18E1799922E687F083BDA_42</vt:lpwstr>
  </property>
  <property fmtid="{D5CDD505-2E9C-101B-9397-08002B2CF9AE}" pid="3" name="KSOProductBuildVer">
    <vt:lpwstr>2052-7.4.1.8983</vt:lpwstr>
  </property>
</Properties>
</file>